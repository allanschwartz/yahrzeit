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</p:sldIdLst>
  <p:sldSz cy="6858000" cx="12191675"/>
  <p:notesSz cx="6858000" cy="12191675"/>
  <p:embeddedFontLst>
    <p:embeddedFont>
      <p:font typeface="Play"/>
      <p:regular r:id="rId25"/>
      <p:bold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7" roundtripDataSignature="AMtx7mh/VMR7LTSkh6nnGhTKDGeWnpskC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Play-bold.fntdata"/><Relationship Id="rId25" Type="http://schemas.openxmlformats.org/officeDocument/2006/relationships/font" Target="fonts/Play-regular.fntdata"/><Relationship Id="rId27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" name="Google Shape;18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Open personally and briefly. This is a stewardship presentation, not a technical deep dive. Emphasize continuity: the wall has served the congregation, and the goal is to keep it reliable and maintainable.</a:t>
            </a:r>
            <a:endParaRPr/>
          </a:p>
        </p:txBody>
      </p:sp>
      <p:sp>
        <p:nvSpPr>
          <p:cNvPr id="19" name="Google Shape;19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" name="Google Shape;29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Keep this accessible. The wall is not just hardware; it is a ritual and memorial system. Avoid excess technical detail here.</a:t>
            </a:r>
            <a:endParaRPr/>
          </a:p>
        </p:txBody>
      </p:sp>
      <p:sp>
        <p:nvSpPr>
          <p:cNvPr id="30" name="Google Shape;30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" name="Google Shape;41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Use careful tone: do not say the old system is bad. Say it has served the synagogue and deserves a supportable maintenance path.</a:t>
            </a:r>
            <a:endParaRPr/>
          </a:p>
        </p:txBody>
      </p:sp>
      <p:sp>
        <p:nvSpPr>
          <p:cNvPr id="42" name="Google Shape;42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" name="Google Shape;54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Reference the 2015 deck briefly. The message: the original goals were sound; the 2026 project is to restore and protect those goals.</a:t>
            </a:r>
            <a:endParaRPr/>
          </a:p>
        </p:txBody>
      </p:sp>
      <p:sp>
        <p:nvSpPr>
          <p:cNvPr id="55" name="Google Shape;55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" name="Google Shape;67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This slide is credibility. Do not dwell on code names unless asked. Mention that the work is already in a repository and tested locally.</a:t>
            </a:r>
            <a:endParaRPr/>
          </a:p>
        </p:txBody>
      </p:sp>
      <p:sp>
        <p:nvSpPr>
          <p:cNvPr id="68" name="Google Shape;68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" name="Google Shape;78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Preface the single-panel screen with this one. It shows the wall as a whole and introduces lit-light counts.</a:t>
            </a:r>
            <a:br>
              <a:rPr lang="en-US"/>
            </a:br>
            <a:r>
              <a:rPr lang="en-US"/>
              <a:t>“This gives staff and maintainers a wall-level view, including panel-geometry and lit-light counts”</a:t>
            </a:r>
            <a:endParaRPr/>
          </a:p>
        </p:txBody>
      </p:sp>
      <p:sp>
        <p:nvSpPr>
          <p:cNvPr id="79" name="Google Shape;79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" name="Google Shape;90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This is the strongest concrete example for nontechnical people. Say: </a:t>
            </a:r>
            <a:r>
              <a:rPr i="1" lang="en-US"/>
              <a:t>This now shows exactly which memory lights should be lit today.   it turns the wall from a black box into something staff and maintainers can inspect.</a:t>
            </a:r>
            <a:endParaRPr i="1"/>
          </a:p>
        </p:txBody>
      </p:sp>
      <p:sp>
        <p:nvSpPr>
          <p:cNvPr id="91" name="Google Shape;91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" name="Google Shape;103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This is the plan slide. Make it clear the project is staged and reversible. Facilities and leadership should hear: no surprises, no casual tinkering with the wall.</a:t>
            </a:r>
            <a:endParaRPr/>
          </a:p>
        </p:txBody>
      </p:sp>
      <p:sp>
        <p:nvSpPr>
          <p:cNvPr id="104" name="Google Shape;104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8" name="Google Shape;138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Say that the engineering work can be pro bono, but the site work needs CBS coordination.</a:t>
            </a:r>
            <a:endParaRPr/>
          </a:p>
        </p:txBody>
      </p:sp>
      <p:sp>
        <p:nvSpPr>
          <p:cNvPr id="139" name="Google Shape;139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3" name="Google Shape;163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End the main deck with a clear ask. Avoid drifting into technical appendix unless the audience wants it.</a:t>
            </a:r>
            <a:endParaRPr/>
          </a:p>
        </p:txBody>
      </p:sp>
      <p:sp>
        <p:nvSpPr>
          <p:cNvPr id="164" name="Google Shape;164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6" name="Google Shape;176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Transition: the next slides are for the technical/facilities audience. They can be skipped or used as backup.</a:t>
            </a:r>
            <a:endParaRPr/>
          </a:p>
        </p:txBody>
      </p:sp>
      <p:sp>
        <p:nvSpPr>
          <p:cNvPr id="177" name="Google Shape;177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6" name="Google Shape;186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Use this to orient facilities and technical people. Important distinction: UI calculated status is not the same as querying the live controller.</a:t>
            </a:r>
            <a:endParaRPr/>
          </a:p>
        </p:txBody>
      </p:sp>
      <p:sp>
        <p:nvSpPr>
          <p:cNvPr id="187" name="Google Shape;187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3" name="Google Shape;213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Say “roughly order of magnitude” rather than promising 12x unless someone asks. If technical audience asks, explain 16 MHz to 48 MHz plus architecture improvement as a rough estimate.</a:t>
            </a:r>
            <a:endParaRPr/>
          </a:p>
        </p:txBody>
      </p:sp>
      <p:sp>
        <p:nvSpPr>
          <p:cNvPr id="214" name="Google Shape;214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1" name="Google Shape;231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This is about deployment hygiene. Emphasize reproducibility and supportability, not just newer hardware.</a:t>
            </a:r>
            <a:endParaRPr/>
          </a:p>
        </p:txBody>
      </p:sp>
      <p:sp>
        <p:nvSpPr>
          <p:cNvPr id="232" name="Google Shape;232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5" name="Google Shape;245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Screen-by-screen tour should be short. The important point: the app now explains itself better.</a:t>
            </a:r>
            <a:endParaRPr/>
          </a:p>
        </p:txBody>
      </p:sp>
      <p:sp>
        <p:nvSpPr>
          <p:cNvPr id="246" name="Google Shape;246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3" name="Google Shape;263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This slide is about confidence. Reports and command previews let the team verify expected behavior before live wall operations.</a:t>
            </a:r>
            <a:endParaRPr/>
          </a:p>
        </p:txBody>
      </p:sp>
      <p:sp>
        <p:nvSpPr>
          <p:cNvPr id="264" name="Google Shape;264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7" name="Google Shape;277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This may be too technical for the main audience but important for engineering credibility. It addresses the risk of staff or maintainers corrupting the database.</a:t>
            </a:r>
            <a:endParaRPr/>
          </a:p>
        </p:txBody>
      </p:sp>
      <p:sp>
        <p:nvSpPr>
          <p:cNvPr id="278" name="Google Shape;278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1" name="Google Shape;291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Stress that testing precedes installation. The test fixture work is a confidence-builder, not a distraction.</a:t>
            </a:r>
            <a:endParaRPr/>
          </a:p>
        </p:txBody>
      </p:sp>
      <p:sp>
        <p:nvSpPr>
          <p:cNvPr id="292" name="Google Shape;292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4" name="Google Shape;304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This is the trust slide for leadership. Be honest that onsite unknowns exist, and then show that every risk has a mitigation.</a:t>
            </a:r>
            <a:endParaRPr/>
          </a:p>
        </p:txBody>
      </p:sp>
      <p:sp>
        <p:nvSpPr>
          <p:cNvPr id="305" name="Google Shape;305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3" name="Google Shape;333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Close by returning to purpose. This is not about technology for its own sake. It is about preserving a memorial system for CBS.</a:t>
            </a:r>
            <a:endParaRPr/>
          </a:p>
        </p:txBody>
      </p:sp>
      <p:sp>
        <p:nvSpPr>
          <p:cNvPr id="334" name="Google Shape;334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STER">
  <p:cSld name="MASTER">
    <p:bg>
      <p:bgPr>
        <a:solidFill>
          <a:srgbClr val="F8FAFC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5B93C"/>
          </a:solidFill>
          <a:ln cap="flat" cmpd="sng" w="12700">
            <a:solidFill>
              <a:srgbClr val="E5B9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p2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D3A6D"/>
          </a:solidFill>
          <a:ln cap="flat" cmpd="sng" w="12700">
            <a:solidFill>
              <a:srgbClr val="1D3A6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22"/>
          <p:cNvSpPr txBox="1"/>
          <p:nvPr>
            <p:ph idx="12" type="sldNum"/>
          </p:nvPr>
        </p:nvSpPr>
        <p:spPr>
          <a:xfrm>
            <a:off x="11475720" y="6446520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1"/>
          <p:cNvSpPr txBox="1"/>
          <p:nvPr>
            <p:ph idx="12" type="sldNum"/>
          </p:nvPr>
        </p:nvSpPr>
        <p:spPr>
          <a:xfrm>
            <a:off x="11475720" y="6446520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6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5.png"/><Relationship Id="rId4" Type="http://schemas.openxmlformats.org/officeDocument/2006/relationships/image" Target="../media/image17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0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9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mnt/data/old_deck_imgs/p9-09.png" id="21" name="Google Shape;21;p1"/>
          <p:cNvPicPr preferRelativeResize="0"/>
          <p:nvPr/>
        </p:nvPicPr>
        <p:blipFill rotWithShape="1">
          <a:blip r:embed="rId3">
            <a:alphaModFix/>
          </a:blip>
          <a:srcRect b="2665" l="0" r="0" t="2665"/>
          <a:stretch/>
        </p:blipFill>
        <p:spPr>
          <a:xfrm>
            <a:off x="0" y="164592"/>
            <a:ext cx="12191695" cy="6492240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1"/>
          <p:cNvSpPr/>
          <p:nvPr/>
        </p:nvSpPr>
        <p:spPr>
          <a:xfrm>
            <a:off x="0" y="164592"/>
            <a:ext cx="12191695" cy="6492240"/>
          </a:xfrm>
          <a:prstGeom prst="rect">
            <a:avLst/>
          </a:prstGeom>
          <a:solidFill>
            <a:srgbClr val="000000">
              <a:alpha val="61960"/>
            </a:srgbClr>
          </a:solidFill>
          <a:ln cap="flat" cmpd="sng" w="12700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1"/>
          <p:cNvSpPr/>
          <p:nvPr/>
        </p:nvSpPr>
        <p:spPr>
          <a:xfrm>
            <a:off x="685800" y="685800"/>
            <a:ext cx="694944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Play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Yahrzeit Wall</a:t>
            </a:r>
            <a:endParaRPr b="0" i="0" sz="3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Play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Modernization &amp; Maintenance Plan</a:t>
            </a:r>
            <a:endParaRPr b="0" i="0" sz="3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713232" y="2240280"/>
            <a:ext cx="4297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DE68A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DE68A"/>
                </a:solidFill>
                <a:latin typeface="Arial"/>
                <a:ea typeface="Arial"/>
                <a:cs typeface="Arial"/>
                <a:sym typeface="Arial"/>
              </a:rPr>
              <a:t>Congregation Beth Sholom • 2026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713232" y="2633472"/>
            <a:ext cx="32004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Allan Schwartz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1"/>
          <p:cNvSpPr txBox="1"/>
          <p:nvPr>
            <p:ph idx="4294967295" type="sldNum"/>
          </p:nvPr>
        </p:nvSpPr>
        <p:spPr>
          <a:xfrm>
            <a:off x="11475720" y="6446520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6B728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"/>
          <p:cNvSpPr/>
          <p:nvPr/>
        </p:nvSpPr>
        <p:spPr>
          <a:xfrm>
            <a:off x="502920" y="384048"/>
            <a:ext cx="69494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3A6D"/>
              </a:buClr>
              <a:buSzPts val="2700"/>
              <a:buFont typeface="Play"/>
              <a:buNone/>
            </a:pPr>
            <a:r>
              <a:rPr b="1" i="0" lang="en-US" sz="2700" u="none" cap="none" strike="noStrike">
                <a:solidFill>
                  <a:srgbClr val="1D3A6D"/>
                </a:solidFill>
                <a:latin typeface="Play"/>
                <a:ea typeface="Play"/>
                <a:cs typeface="Play"/>
                <a:sym typeface="Play"/>
              </a:rPr>
              <a:t>What the wall does</a:t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530352" y="786384"/>
            <a:ext cx="8046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5B6472"/>
                </a:solidFill>
                <a:latin typeface="Arial"/>
                <a:ea typeface="Arial"/>
                <a:cs typeface="Arial"/>
                <a:sym typeface="Arial"/>
              </a:rPr>
              <a:t>A ritual object supported by a technical system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old_deck_imgs/p10-10.png" id="34" name="Google Shape;34;p2"/>
          <p:cNvPicPr preferRelativeResize="0"/>
          <p:nvPr/>
        </p:nvPicPr>
        <p:blipFill rotWithShape="1">
          <a:blip r:embed="rId3">
            <a:alphaModFix/>
          </a:blip>
          <a:srcRect b="0" l="17614" r="17614" t="0"/>
          <a:stretch/>
        </p:blipFill>
        <p:spPr>
          <a:xfrm>
            <a:off x="640080" y="1207008"/>
            <a:ext cx="5212080" cy="4526280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2"/>
          <p:cNvSpPr/>
          <p:nvPr/>
        </p:nvSpPr>
        <p:spPr>
          <a:xfrm>
            <a:off x="6263640" y="1188720"/>
            <a:ext cx="5120640" cy="4526280"/>
          </a:xfrm>
          <a:prstGeom prst="roundRect">
            <a:avLst>
              <a:gd fmla="val 2020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2"/>
          <p:cNvSpPr/>
          <p:nvPr/>
        </p:nvSpPr>
        <p:spPr>
          <a:xfrm>
            <a:off x="6629400" y="1572768"/>
            <a:ext cx="4434840" cy="3566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-3556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000"/>
              <a:buFont typeface="Arial"/>
              <a:buChar char="●"/>
            </a:pPr>
            <a:r>
              <a:rPr b="0" i="0" lang="en-US" sz="20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Honors loved ones through etched names and lights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000"/>
              <a:buFont typeface="Arial"/>
              <a:buChar char="●"/>
            </a:pPr>
            <a:r>
              <a:rPr lang="en-US" sz="20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Lights memorials during the appropriate Yahrzeit week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000"/>
              <a:buFont typeface="Arial"/>
              <a:buChar char="●"/>
            </a:pPr>
            <a:r>
              <a:rPr lang="en-US" sz="20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Illuminates the wall for Yizkor observances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000"/>
              <a:buFont typeface="Arial"/>
              <a:buChar char="●"/>
            </a:pPr>
            <a:r>
              <a:rPr lang="en-US" sz="20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Combines glass, lighting electronics, database, and automation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502920" y="6473952"/>
            <a:ext cx="82296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750"/>
              <a:buFont typeface="Arial"/>
              <a:buNone/>
            </a:pPr>
            <a:r>
              <a:rPr lang="en-US" sz="750">
                <a:solidFill>
                  <a:srgbClr val="5B6472"/>
                </a:solidFill>
                <a:latin typeface="Arial"/>
                <a:ea typeface="Arial"/>
                <a:cs typeface="Arial"/>
                <a:sym typeface="Arial"/>
              </a:rPr>
              <a:t>Congregation Beth Sholom • Yahrzeit Wall modernization</a:t>
            </a:r>
            <a:endParaRPr sz="7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2"/>
          <p:cNvSpPr txBox="1"/>
          <p:nvPr>
            <p:ph idx="4294967295" type="sldNum"/>
          </p:nvPr>
        </p:nvSpPr>
        <p:spPr>
          <a:xfrm>
            <a:off x="11475720" y="6446520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6B728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3"/>
          <p:cNvSpPr/>
          <p:nvPr/>
        </p:nvSpPr>
        <p:spPr>
          <a:xfrm>
            <a:off x="502920" y="384048"/>
            <a:ext cx="69494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3A6D"/>
              </a:buClr>
              <a:buSzPts val="2700"/>
              <a:buFont typeface="Play"/>
              <a:buNone/>
            </a:pPr>
            <a:r>
              <a:rPr b="1" lang="en-US" sz="2700">
                <a:solidFill>
                  <a:srgbClr val="1D3A6D"/>
                </a:solidFill>
                <a:latin typeface="Play"/>
                <a:ea typeface="Play"/>
                <a:cs typeface="Play"/>
                <a:sym typeface="Play"/>
              </a:rPr>
              <a:t>Why attention is needed now</a:t>
            </a:r>
            <a:endParaRPr sz="2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3"/>
          <p:cNvSpPr/>
          <p:nvPr/>
        </p:nvSpPr>
        <p:spPr>
          <a:xfrm>
            <a:off x="530352" y="786384"/>
            <a:ext cx="8046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150"/>
              <a:buFont typeface="Arial"/>
              <a:buNone/>
            </a:pPr>
            <a:r>
              <a:rPr lang="en-US" sz="1150">
                <a:solidFill>
                  <a:srgbClr val="5B6472"/>
                </a:solidFill>
                <a:latin typeface="Arial"/>
                <a:ea typeface="Arial"/>
                <a:cs typeface="Arial"/>
                <a:sym typeface="Arial"/>
              </a:rPr>
              <a:t>The system served well; now it needs a maintainable future</a:t>
            </a:r>
            <a:endParaRPr sz="1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old_deck_imgs/p16-16.png" id="46" name="Google Shape;46;p3"/>
          <p:cNvPicPr preferRelativeResize="0"/>
          <p:nvPr/>
        </p:nvPicPr>
        <p:blipFill rotWithShape="1">
          <a:blip r:embed="rId3">
            <a:alphaModFix/>
          </a:blip>
          <a:srcRect b="0" l="8553" r="8553" t="0"/>
          <a:stretch/>
        </p:blipFill>
        <p:spPr>
          <a:xfrm>
            <a:off x="594360" y="1143000"/>
            <a:ext cx="5120640" cy="3474720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3"/>
          <p:cNvSpPr/>
          <p:nvPr/>
        </p:nvSpPr>
        <p:spPr>
          <a:xfrm>
            <a:off x="594360" y="4800600"/>
            <a:ext cx="5120640" cy="914400"/>
          </a:xfrm>
          <a:prstGeom prst="roundRect">
            <a:avLst>
              <a:gd fmla="val 10000" name="adj"/>
            </a:avLst>
          </a:prstGeom>
          <a:solidFill>
            <a:srgbClr val="FEF3C7"/>
          </a:solidFill>
          <a:ln cap="flat" cmpd="sng" w="12700">
            <a:solidFill>
              <a:srgbClr val="E5B9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3"/>
          <p:cNvSpPr/>
          <p:nvPr/>
        </p:nvSpPr>
        <p:spPr>
          <a:xfrm>
            <a:off x="822960" y="5093208"/>
            <a:ext cx="46634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3A6D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1D3A6D"/>
                </a:solidFill>
                <a:latin typeface="Arial"/>
                <a:ea typeface="Arial"/>
                <a:cs typeface="Arial"/>
                <a:sym typeface="Arial"/>
              </a:rPr>
              <a:t>2015: Mac Mini + Arduino-era controller + legacy PHP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3"/>
          <p:cNvSpPr/>
          <p:nvPr/>
        </p:nvSpPr>
        <p:spPr>
          <a:xfrm>
            <a:off x="6400800" y="1234440"/>
            <a:ext cx="4937760" cy="4297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-3683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200"/>
              <a:buChar char="●"/>
            </a:pPr>
            <a:r>
              <a:rPr lang="en-US" sz="22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Server/appliance environment </a:t>
            </a:r>
            <a:r>
              <a:rPr lang="en-US" sz="2200">
                <a:solidFill>
                  <a:srgbClr val="1F2937"/>
                </a:solidFill>
              </a:rPr>
              <a:t>and</a:t>
            </a:r>
            <a:endParaRPr sz="2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Institutional knowledge is fragile </a:t>
            </a:r>
            <a:endParaRPr sz="2200">
              <a:solidFill>
                <a:srgbClr val="1F293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1F2937"/>
              </a:solidFill>
            </a:endParaRPr>
          </a:p>
          <a:p>
            <a:pPr indent="-3683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200"/>
              <a:buFont typeface="Arial"/>
              <a:buChar char="●"/>
            </a:pPr>
            <a:r>
              <a:rPr lang="en-US" sz="22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Maintenance needs a small, repeatable path</a:t>
            </a:r>
            <a:endParaRPr sz="2200">
              <a:solidFill>
                <a:srgbClr val="1F293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1F2937"/>
              </a:solidFill>
            </a:endParaRPr>
          </a:p>
          <a:p>
            <a:pPr indent="-3683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200"/>
              <a:buFont typeface="Arial"/>
              <a:buChar char="●"/>
            </a:pPr>
            <a:r>
              <a:rPr lang="en-US" sz="22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The goal is renewal, not redesign</a:t>
            </a:r>
            <a:endParaRPr sz="2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3"/>
          <p:cNvSpPr/>
          <p:nvPr/>
        </p:nvSpPr>
        <p:spPr>
          <a:xfrm>
            <a:off x="502920" y="6473952"/>
            <a:ext cx="82296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750"/>
              <a:buFont typeface="Arial"/>
              <a:buNone/>
            </a:pPr>
            <a:r>
              <a:rPr lang="en-US" sz="750">
                <a:solidFill>
                  <a:srgbClr val="5B6472"/>
                </a:solidFill>
                <a:latin typeface="Arial"/>
                <a:ea typeface="Arial"/>
                <a:cs typeface="Arial"/>
                <a:sym typeface="Arial"/>
              </a:rPr>
              <a:t>Congregation Beth Sholom • Yahrzeit Wall modernization</a:t>
            </a:r>
            <a:endParaRPr sz="7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3"/>
          <p:cNvSpPr txBox="1"/>
          <p:nvPr>
            <p:ph idx="4294967295" type="sldNum"/>
          </p:nvPr>
        </p:nvSpPr>
        <p:spPr>
          <a:xfrm>
            <a:off x="11475720" y="6446520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>
              <a:solidFill>
                <a:srgbClr val="6B728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4"/>
          <p:cNvSpPr/>
          <p:nvPr/>
        </p:nvSpPr>
        <p:spPr>
          <a:xfrm>
            <a:off x="502920" y="384048"/>
            <a:ext cx="69494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3A6D"/>
              </a:buClr>
              <a:buSzPts val="2700"/>
              <a:buFont typeface="Play"/>
              <a:buNone/>
            </a:pPr>
            <a:r>
              <a:rPr b="1" lang="en-US" sz="2700">
                <a:solidFill>
                  <a:srgbClr val="1D3A6D"/>
                </a:solidFill>
                <a:latin typeface="Play"/>
                <a:ea typeface="Play"/>
                <a:cs typeface="Play"/>
                <a:sym typeface="Play"/>
              </a:rPr>
              <a:t>Design goals still hold</a:t>
            </a:r>
            <a:endParaRPr sz="2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4"/>
          <p:cNvSpPr/>
          <p:nvPr/>
        </p:nvSpPr>
        <p:spPr>
          <a:xfrm>
            <a:off x="530352" y="786384"/>
            <a:ext cx="8046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150"/>
              <a:buFont typeface="Arial"/>
              <a:buNone/>
            </a:pPr>
            <a:r>
              <a:rPr lang="en-US" sz="1150">
                <a:solidFill>
                  <a:srgbClr val="5B6472"/>
                </a:solidFill>
                <a:latin typeface="Arial"/>
                <a:ea typeface="Arial"/>
                <a:cs typeface="Arial"/>
                <a:sym typeface="Arial"/>
              </a:rPr>
              <a:t>The 2015 goals remain the right north star</a:t>
            </a:r>
            <a:endParaRPr sz="1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old_deck_imgs/p6-06.png" id="59" name="Google Shape;59;p4"/>
          <p:cNvPicPr preferRelativeResize="0"/>
          <p:nvPr/>
        </p:nvPicPr>
        <p:blipFill rotWithShape="1">
          <a:blip r:embed="rId3">
            <a:alphaModFix/>
          </a:blip>
          <a:srcRect b="0" l="12271" r="12271" t="0"/>
          <a:stretch/>
        </p:blipFill>
        <p:spPr>
          <a:xfrm>
            <a:off x="594360" y="1143000"/>
            <a:ext cx="5029200" cy="3749040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4"/>
          <p:cNvSpPr/>
          <p:nvPr/>
        </p:nvSpPr>
        <p:spPr>
          <a:xfrm>
            <a:off x="5989320" y="1325880"/>
            <a:ext cx="5394960" cy="1828800"/>
          </a:xfrm>
          <a:prstGeom prst="roundRect">
            <a:avLst>
              <a:gd fmla="val 4000" name="adj"/>
            </a:avLst>
          </a:prstGeom>
          <a:solidFill>
            <a:srgbClr val="FFF8E1"/>
          </a:solidFill>
          <a:ln cap="flat" cmpd="sng" w="12700">
            <a:solidFill>
              <a:srgbClr val="E5B9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4"/>
          <p:cNvSpPr/>
          <p:nvPr/>
        </p:nvSpPr>
        <p:spPr>
          <a:xfrm>
            <a:off x="6217920" y="1527048"/>
            <a:ext cx="4937760" cy="1426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3A6D"/>
              </a:buClr>
              <a:buSzPts val="2200"/>
              <a:buFont typeface="Arial"/>
              <a:buNone/>
            </a:pPr>
            <a:r>
              <a:rPr i="1" lang="en-US" sz="2200">
                <a:solidFill>
                  <a:srgbClr val="1D3A6D"/>
                </a:solidFill>
                <a:latin typeface="Arial"/>
                <a:ea typeface="Arial"/>
                <a:cs typeface="Arial"/>
                <a:sym typeface="Arial"/>
              </a:rPr>
              <a:t>Simplicity, elegance, ease of use, database integration, automation — and a system that can be maintained.</a:t>
            </a:r>
            <a:endParaRPr sz="2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4"/>
          <p:cNvSpPr/>
          <p:nvPr/>
        </p:nvSpPr>
        <p:spPr>
          <a:xfrm>
            <a:off x="6309350" y="3657600"/>
            <a:ext cx="4748700" cy="228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-3429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00"/>
              <a:buFont typeface="Arial"/>
              <a:buChar char="●"/>
            </a:pPr>
            <a:r>
              <a:rPr lang="en-US" sz="18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Preserve the architectural and ritual intent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00"/>
              <a:buFont typeface="Arial"/>
              <a:buChar char="●"/>
            </a:pPr>
            <a:r>
              <a:rPr lang="en-US" sz="18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Make operation clearer for staff and facilities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00"/>
              <a:buFont typeface="Arial"/>
              <a:buChar char="●"/>
            </a:pPr>
            <a:r>
              <a:rPr lang="en-US" sz="18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Keep technical complexity behind the scenes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00"/>
              <a:buFont typeface="Arial"/>
              <a:buChar char="●"/>
            </a:pPr>
            <a:r>
              <a:rPr lang="en-US" sz="18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Document for future maintainers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4"/>
          <p:cNvSpPr/>
          <p:nvPr/>
        </p:nvSpPr>
        <p:spPr>
          <a:xfrm>
            <a:off x="502920" y="6473952"/>
            <a:ext cx="82296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750"/>
              <a:buFont typeface="Arial"/>
              <a:buNone/>
            </a:pPr>
            <a:r>
              <a:rPr lang="en-US" sz="750">
                <a:solidFill>
                  <a:srgbClr val="5B6472"/>
                </a:solidFill>
                <a:latin typeface="Arial"/>
                <a:ea typeface="Arial"/>
                <a:cs typeface="Arial"/>
                <a:sym typeface="Arial"/>
              </a:rPr>
              <a:t>Congregation Beth Sholom • Yahrzeit Wall modernization</a:t>
            </a:r>
            <a:endParaRPr sz="7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4"/>
          <p:cNvSpPr txBox="1"/>
          <p:nvPr>
            <p:ph idx="4294967295" type="sldNum"/>
          </p:nvPr>
        </p:nvSpPr>
        <p:spPr>
          <a:xfrm>
            <a:off x="11475720" y="6446520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>
              <a:solidFill>
                <a:srgbClr val="6B728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5"/>
          <p:cNvSpPr/>
          <p:nvPr/>
        </p:nvSpPr>
        <p:spPr>
          <a:xfrm>
            <a:off x="502920" y="384048"/>
            <a:ext cx="69494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3A6D"/>
              </a:buClr>
              <a:buSzPts val="2700"/>
              <a:buFont typeface="Play"/>
              <a:buNone/>
            </a:pPr>
            <a:r>
              <a:rPr b="1" lang="en-US" sz="2700">
                <a:solidFill>
                  <a:srgbClr val="1D3A6D"/>
                </a:solidFill>
                <a:latin typeface="Play"/>
                <a:ea typeface="Play"/>
                <a:cs typeface="Play"/>
                <a:sym typeface="Play"/>
              </a:rPr>
              <a:t>What has already been done</a:t>
            </a:r>
            <a:endParaRPr sz="2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5"/>
          <p:cNvSpPr/>
          <p:nvPr/>
        </p:nvSpPr>
        <p:spPr>
          <a:xfrm>
            <a:off x="530352" y="786384"/>
            <a:ext cx="8046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150"/>
              <a:buFont typeface="Arial"/>
              <a:buNone/>
            </a:pPr>
            <a:r>
              <a:rPr lang="en-US" sz="1150">
                <a:solidFill>
                  <a:srgbClr val="5B6472"/>
                </a:solidFill>
                <a:latin typeface="Arial"/>
                <a:ea typeface="Arial"/>
                <a:cs typeface="Arial"/>
                <a:sym typeface="Arial"/>
              </a:rPr>
              <a:t>Recent preparation has moved from idea to working prototype</a:t>
            </a:r>
            <a:endParaRPr sz="1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yahrzeit_screens/Screenshot 0yahrzeit.png" id="72" name="Google Shape;72;p5"/>
          <p:cNvPicPr preferRelativeResize="0"/>
          <p:nvPr/>
        </p:nvPicPr>
        <p:blipFill rotWithShape="1">
          <a:blip r:embed="rId3">
            <a:alphaModFix/>
          </a:blip>
          <a:srcRect b="0" l="10766" r="10766" t="0"/>
          <a:stretch/>
        </p:blipFill>
        <p:spPr>
          <a:xfrm>
            <a:off x="6446520" y="1143000"/>
            <a:ext cx="4983480" cy="4251960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5"/>
          <p:cNvSpPr/>
          <p:nvPr/>
        </p:nvSpPr>
        <p:spPr>
          <a:xfrm>
            <a:off x="685800" y="1280160"/>
            <a:ext cx="521208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-3619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100"/>
              <a:buFont typeface="Arial"/>
              <a:buChar char="●"/>
            </a:pPr>
            <a:r>
              <a:rPr lang="en-US" sz="21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Reviewed and modernized server-side PHP screens</a:t>
            </a:r>
            <a:endParaRPr sz="2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19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100"/>
              <a:buFont typeface="Arial"/>
              <a:buChar char="●"/>
            </a:pPr>
            <a:r>
              <a:rPr lang="en-US" sz="21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Added shared lighting-policy logic used by UI and engine</a:t>
            </a:r>
            <a:endParaRPr sz="2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19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100"/>
              <a:buFont typeface="Arial"/>
              <a:buChar char="●"/>
            </a:pPr>
            <a:r>
              <a:rPr lang="en-US" sz="21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Improved dashboard and panel-level status visibility</a:t>
            </a:r>
            <a:endParaRPr sz="2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19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100"/>
              <a:buFont typeface="Arial"/>
              <a:buChar char="●"/>
            </a:pPr>
            <a:r>
              <a:rPr lang="en-US" sz="21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Built a </a:t>
            </a:r>
            <a:r>
              <a:rPr lang="en-US" sz="2100">
                <a:solidFill>
                  <a:srgbClr val="1F2937"/>
                </a:solidFill>
              </a:rPr>
              <a:t>Linux </a:t>
            </a:r>
            <a:r>
              <a:rPr lang="en-US" sz="21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Ubuntu appliance install path</a:t>
            </a:r>
            <a:endParaRPr sz="2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19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100"/>
              <a:buFont typeface="Arial"/>
              <a:buChar char="●"/>
            </a:pPr>
            <a:r>
              <a:rPr lang="en-US" sz="21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Bench-tested replacement controller/interface pieces</a:t>
            </a:r>
            <a:endParaRPr sz="2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5"/>
          <p:cNvSpPr/>
          <p:nvPr/>
        </p:nvSpPr>
        <p:spPr>
          <a:xfrm>
            <a:off x="502920" y="6473952"/>
            <a:ext cx="82296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750"/>
              <a:buFont typeface="Arial"/>
              <a:buNone/>
            </a:pPr>
            <a:r>
              <a:rPr lang="en-US" sz="750">
                <a:solidFill>
                  <a:srgbClr val="5B6472"/>
                </a:solidFill>
                <a:latin typeface="Arial"/>
                <a:ea typeface="Arial"/>
                <a:cs typeface="Arial"/>
                <a:sym typeface="Arial"/>
              </a:rPr>
              <a:t>Congregation Beth Sholom • Yahrzeit Wall modernization</a:t>
            </a:r>
            <a:endParaRPr sz="7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5"/>
          <p:cNvSpPr txBox="1"/>
          <p:nvPr>
            <p:ph idx="4294967295" type="sldNum"/>
          </p:nvPr>
        </p:nvSpPr>
        <p:spPr>
          <a:xfrm>
            <a:off x="11475720" y="6446520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>
              <a:solidFill>
                <a:srgbClr val="6B728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6"/>
          <p:cNvSpPr/>
          <p:nvPr/>
        </p:nvSpPr>
        <p:spPr>
          <a:xfrm>
            <a:off x="502920" y="384048"/>
            <a:ext cx="69494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3A6D"/>
              </a:buClr>
              <a:buSzPts val="2700"/>
              <a:buFont typeface="Play"/>
              <a:buNone/>
            </a:pPr>
            <a:r>
              <a:rPr b="1" lang="en-US" sz="2700">
                <a:solidFill>
                  <a:srgbClr val="1D3A6D"/>
                </a:solidFill>
                <a:latin typeface="Play"/>
                <a:ea typeface="Play"/>
                <a:cs typeface="Play"/>
                <a:sym typeface="Play"/>
              </a:rPr>
              <a:t>Visible improvement: wall-level view</a:t>
            </a:r>
            <a:endParaRPr sz="2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6"/>
          <p:cNvSpPr/>
          <p:nvPr/>
        </p:nvSpPr>
        <p:spPr>
          <a:xfrm>
            <a:off x="530352" y="786384"/>
            <a:ext cx="8046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150"/>
              <a:buFont typeface="Arial"/>
              <a:buNone/>
            </a:pPr>
            <a:r>
              <a:rPr lang="en-US" sz="1150">
                <a:solidFill>
                  <a:srgbClr val="5B6472"/>
                </a:solidFill>
                <a:latin typeface="Arial"/>
                <a:ea typeface="Arial"/>
                <a:cs typeface="Arial"/>
                <a:sym typeface="Arial"/>
              </a:rPr>
              <a:t>The panel overview now gives operational context</a:t>
            </a:r>
            <a:endParaRPr sz="1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yahrzeit_screens/Screenshot 1panels.png" id="83" name="Google Shape;83;p6"/>
          <p:cNvPicPr preferRelativeResize="0"/>
          <p:nvPr/>
        </p:nvPicPr>
        <p:blipFill rotWithShape="1">
          <a:blip r:embed="rId3">
            <a:alphaModFix/>
          </a:blip>
          <a:srcRect b="14599" l="0" r="0" t="14599"/>
          <a:stretch/>
        </p:blipFill>
        <p:spPr>
          <a:xfrm>
            <a:off x="502920" y="1051560"/>
            <a:ext cx="7315200" cy="4709160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6"/>
          <p:cNvSpPr/>
          <p:nvPr/>
        </p:nvSpPr>
        <p:spPr>
          <a:xfrm>
            <a:off x="8092440" y="1325880"/>
            <a:ext cx="3566160" cy="3931920"/>
          </a:xfrm>
          <a:prstGeom prst="roundRect">
            <a:avLst>
              <a:gd fmla="val 2564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6"/>
          <p:cNvSpPr/>
          <p:nvPr/>
        </p:nvSpPr>
        <p:spPr>
          <a:xfrm>
            <a:off x="8092452" y="1747887"/>
            <a:ext cx="3688500" cy="308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-3365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700"/>
              <a:buFont typeface="Arial"/>
              <a:buChar char="●"/>
            </a:pPr>
            <a:r>
              <a:rPr lang="en-US" sz="17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Panel geometry and capacity are visible</a:t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700"/>
              <a:buFont typeface="Arial"/>
              <a:buChar char="●"/>
            </a:pPr>
            <a:r>
              <a:rPr lang="en-US" sz="17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Lit-light counts appear by physical panel</a:t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700"/>
              <a:buFont typeface="Arial"/>
              <a:buChar char="●"/>
            </a:pPr>
            <a:r>
              <a:rPr lang="en-US" sz="17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Manual operations are grouped and labeled</a:t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700"/>
              <a:buFont typeface="Arial"/>
              <a:buChar char="●"/>
            </a:pPr>
            <a:r>
              <a:rPr lang="en-US" sz="17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A maintainer can orient themselves quickly</a:t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6"/>
          <p:cNvSpPr/>
          <p:nvPr/>
        </p:nvSpPr>
        <p:spPr>
          <a:xfrm>
            <a:off x="502920" y="6473952"/>
            <a:ext cx="82296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750"/>
              <a:buFont typeface="Arial"/>
              <a:buNone/>
            </a:pPr>
            <a:r>
              <a:rPr lang="en-US" sz="750">
                <a:solidFill>
                  <a:srgbClr val="5B6472"/>
                </a:solidFill>
                <a:latin typeface="Arial"/>
                <a:ea typeface="Arial"/>
                <a:cs typeface="Arial"/>
                <a:sym typeface="Arial"/>
              </a:rPr>
              <a:t>Congregation Beth Sholom • Yahrzeit Wall modernization</a:t>
            </a:r>
            <a:endParaRPr sz="7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6"/>
          <p:cNvSpPr txBox="1"/>
          <p:nvPr>
            <p:ph idx="4294967295" type="sldNum"/>
          </p:nvPr>
        </p:nvSpPr>
        <p:spPr>
          <a:xfrm>
            <a:off x="11475720" y="6446520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>
              <a:solidFill>
                <a:srgbClr val="6B728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7"/>
          <p:cNvSpPr/>
          <p:nvPr/>
        </p:nvSpPr>
        <p:spPr>
          <a:xfrm>
            <a:off x="502920" y="384048"/>
            <a:ext cx="69494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3A6D"/>
              </a:buClr>
              <a:buSzPts val="2700"/>
              <a:buFont typeface="Play"/>
              <a:buNone/>
            </a:pPr>
            <a:r>
              <a:rPr b="1" lang="en-US" sz="2700">
                <a:solidFill>
                  <a:srgbClr val="1D3A6D"/>
                </a:solidFill>
                <a:latin typeface="Play"/>
                <a:ea typeface="Play"/>
                <a:cs typeface="Play"/>
                <a:sym typeface="Play"/>
              </a:rPr>
              <a:t>Visible improvement: single-panel view</a:t>
            </a:r>
            <a:endParaRPr sz="2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7"/>
          <p:cNvSpPr/>
          <p:nvPr/>
        </p:nvSpPr>
        <p:spPr>
          <a:xfrm>
            <a:off x="530352" y="786384"/>
            <a:ext cx="8046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150"/>
              <a:buFont typeface="Arial"/>
              <a:buNone/>
            </a:pPr>
            <a:r>
              <a:rPr lang="en-US" sz="1150">
                <a:solidFill>
                  <a:srgbClr val="5B6472"/>
                </a:solidFill>
                <a:latin typeface="Arial"/>
                <a:ea typeface="Arial"/>
                <a:cs typeface="Arial"/>
                <a:sym typeface="Arial"/>
              </a:rPr>
              <a:t>A maintainer can see which memorial lights should be lit now</a:t>
            </a:r>
            <a:endParaRPr sz="1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yahrzeit_screens/Screenshot 3singlepanel.png" id="95" name="Google Shape;95;p7"/>
          <p:cNvPicPr preferRelativeResize="0"/>
          <p:nvPr/>
        </p:nvPicPr>
        <p:blipFill rotWithShape="1">
          <a:blip r:embed="rId3">
            <a:alphaModFix/>
          </a:blip>
          <a:srcRect b="14400" l="0" r="0" t="14400"/>
          <a:stretch/>
        </p:blipFill>
        <p:spPr>
          <a:xfrm>
            <a:off x="548640" y="1115568"/>
            <a:ext cx="7315200" cy="507492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7"/>
          <p:cNvSpPr/>
          <p:nvPr/>
        </p:nvSpPr>
        <p:spPr>
          <a:xfrm>
            <a:off x="8183880" y="1325880"/>
            <a:ext cx="3474600" cy="4160400"/>
          </a:xfrm>
          <a:prstGeom prst="roundRect">
            <a:avLst>
              <a:gd fmla="val 2632" name="adj"/>
            </a:avLst>
          </a:prstGeom>
          <a:solidFill>
            <a:srgbClr val="FFF7ED"/>
          </a:solidFill>
          <a:ln cap="flat" cmpd="sng" w="12700">
            <a:solidFill>
              <a:srgbClr val="FDBA7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7"/>
          <p:cNvSpPr/>
          <p:nvPr/>
        </p:nvSpPr>
        <p:spPr>
          <a:xfrm>
            <a:off x="8458200" y="1600200"/>
            <a:ext cx="29260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3A6D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1D3A6D"/>
                </a:solidFill>
                <a:latin typeface="Arial"/>
                <a:ea typeface="Arial"/>
                <a:cs typeface="Arial"/>
                <a:sym typeface="Arial"/>
              </a:rPr>
              <a:t>Example: col5a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7"/>
          <p:cNvSpPr/>
          <p:nvPr/>
        </p:nvSpPr>
        <p:spPr>
          <a:xfrm>
            <a:off x="8183875" y="2072150"/>
            <a:ext cx="3390000" cy="306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-3302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600"/>
              <a:buFont typeface="Arial"/>
              <a:buChar char="●"/>
            </a:pPr>
            <a:r>
              <a:rPr lang="en-US" sz="16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Names remain clickable</a:t>
            </a:r>
            <a:endParaRPr sz="1600">
              <a:solidFill>
                <a:srgbClr val="1F293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1F2937"/>
              </a:solidFill>
            </a:endParaRPr>
          </a:p>
          <a:p>
            <a:pPr indent="-3302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600"/>
              <a:buFont typeface="Arial"/>
              <a:buChar char="●"/>
            </a:pPr>
            <a:r>
              <a:rPr lang="en-US" sz="1600">
                <a:solidFill>
                  <a:srgbClr val="1F2937"/>
                </a:solidFill>
              </a:rPr>
              <a:t>LED</a:t>
            </a:r>
            <a:r>
              <a:rPr lang="en-US" sz="16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 icon marks a calculated lit memorial</a:t>
            </a:r>
            <a:endParaRPr sz="1600">
              <a:solidFill>
                <a:srgbClr val="1F2937"/>
              </a:solidFill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1F2937"/>
              </a:solidFill>
            </a:endParaRPr>
          </a:p>
          <a:p>
            <a:pPr indent="-3302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600"/>
              <a:buFont typeface="Arial"/>
              <a:buChar char="●"/>
            </a:pPr>
            <a:r>
              <a:rPr lang="en-US" sz="16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Summary line: “</a:t>
            </a:r>
            <a:r>
              <a:rPr i="1" lang="en-US" sz="16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5 memorial lights should be lit now on this panel</a:t>
            </a:r>
            <a:r>
              <a:rPr lang="en-US" sz="16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7"/>
          <p:cNvSpPr/>
          <p:nvPr/>
        </p:nvSpPr>
        <p:spPr>
          <a:xfrm>
            <a:off x="502920" y="6473952"/>
            <a:ext cx="82296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750"/>
              <a:buFont typeface="Arial"/>
              <a:buNone/>
            </a:pPr>
            <a:r>
              <a:rPr lang="en-US" sz="750">
                <a:solidFill>
                  <a:srgbClr val="5B6472"/>
                </a:solidFill>
                <a:latin typeface="Arial"/>
                <a:ea typeface="Arial"/>
                <a:cs typeface="Arial"/>
                <a:sym typeface="Arial"/>
              </a:rPr>
              <a:t>Congregation Beth Sholom • Yahrzeit Wall modernization</a:t>
            </a:r>
            <a:endParaRPr sz="7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7"/>
          <p:cNvSpPr txBox="1"/>
          <p:nvPr>
            <p:ph idx="4294967295" type="sldNum"/>
          </p:nvPr>
        </p:nvSpPr>
        <p:spPr>
          <a:xfrm>
            <a:off x="11475720" y="6446520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>
              <a:solidFill>
                <a:srgbClr val="6B728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8"/>
          <p:cNvSpPr/>
          <p:nvPr/>
        </p:nvSpPr>
        <p:spPr>
          <a:xfrm>
            <a:off x="502920" y="384048"/>
            <a:ext cx="69494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3A6D"/>
              </a:buClr>
              <a:buSzPts val="2700"/>
              <a:buFont typeface="Play"/>
              <a:buNone/>
            </a:pPr>
            <a:r>
              <a:rPr b="1" lang="en-US" sz="2700">
                <a:solidFill>
                  <a:srgbClr val="1D3A6D"/>
                </a:solidFill>
                <a:latin typeface="Play"/>
                <a:ea typeface="Play"/>
                <a:cs typeface="Play"/>
                <a:sym typeface="Play"/>
              </a:rPr>
              <a:t>Proposed modernization path</a:t>
            </a:r>
            <a:endParaRPr sz="2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8"/>
          <p:cNvSpPr/>
          <p:nvPr/>
        </p:nvSpPr>
        <p:spPr>
          <a:xfrm>
            <a:off x="530352" y="786384"/>
            <a:ext cx="8046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150"/>
              <a:buFont typeface="Arial"/>
              <a:buNone/>
            </a:pPr>
            <a:r>
              <a:rPr lang="en-US" sz="1150">
                <a:solidFill>
                  <a:srgbClr val="5B6472"/>
                </a:solidFill>
                <a:latin typeface="Arial"/>
                <a:ea typeface="Arial"/>
                <a:cs typeface="Arial"/>
                <a:sym typeface="Arial"/>
              </a:rPr>
              <a:t>A staged, low-risk maintenance project</a:t>
            </a:r>
            <a:endParaRPr sz="1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8"/>
          <p:cNvSpPr/>
          <p:nvPr/>
        </p:nvSpPr>
        <p:spPr>
          <a:xfrm>
            <a:off x="2148840" y="2514600"/>
            <a:ext cx="914400" cy="411480"/>
          </a:xfrm>
          <a:prstGeom prst="chevron">
            <a:avLst>
              <a:gd fmla="val 50000" name="adj"/>
            </a:avLst>
          </a:prstGeom>
          <a:solidFill>
            <a:srgbClr val="CBD5E1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8"/>
          <p:cNvSpPr/>
          <p:nvPr/>
        </p:nvSpPr>
        <p:spPr>
          <a:xfrm>
            <a:off x="4526280" y="2514600"/>
            <a:ext cx="914400" cy="411480"/>
          </a:xfrm>
          <a:prstGeom prst="chevron">
            <a:avLst>
              <a:gd fmla="val 50000" name="adj"/>
            </a:avLst>
          </a:prstGeom>
          <a:solidFill>
            <a:srgbClr val="CBD5E1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8"/>
          <p:cNvSpPr/>
          <p:nvPr/>
        </p:nvSpPr>
        <p:spPr>
          <a:xfrm>
            <a:off x="6903720" y="2514600"/>
            <a:ext cx="914400" cy="411480"/>
          </a:xfrm>
          <a:prstGeom prst="chevron">
            <a:avLst>
              <a:gd fmla="val 50000" name="adj"/>
            </a:avLst>
          </a:prstGeom>
          <a:solidFill>
            <a:srgbClr val="CBD5E1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8"/>
          <p:cNvSpPr/>
          <p:nvPr/>
        </p:nvSpPr>
        <p:spPr>
          <a:xfrm>
            <a:off x="9281160" y="2514600"/>
            <a:ext cx="914400" cy="411480"/>
          </a:xfrm>
          <a:prstGeom prst="chevron">
            <a:avLst>
              <a:gd fmla="val 50000" name="adj"/>
            </a:avLst>
          </a:prstGeom>
          <a:solidFill>
            <a:srgbClr val="CBD5E1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8"/>
          <p:cNvSpPr/>
          <p:nvPr/>
        </p:nvSpPr>
        <p:spPr>
          <a:xfrm>
            <a:off x="777240" y="1920240"/>
            <a:ext cx="1143000" cy="1143000"/>
          </a:xfrm>
          <a:prstGeom prst="ellipse">
            <a:avLst/>
          </a:prstGeom>
          <a:solidFill>
            <a:srgbClr val="E5B93C"/>
          </a:solidFill>
          <a:ln cap="flat" cmpd="sng" w="12700">
            <a:solidFill>
              <a:srgbClr val="1D3A6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8"/>
          <p:cNvSpPr/>
          <p:nvPr/>
        </p:nvSpPr>
        <p:spPr>
          <a:xfrm>
            <a:off x="1170432" y="2258568"/>
            <a:ext cx="3657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3A6D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1D3A6D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8"/>
          <p:cNvSpPr/>
          <p:nvPr/>
        </p:nvSpPr>
        <p:spPr>
          <a:xfrm>
            <a:off x="365760" y="3246120"/>
            <a:ext cx="1965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3A6D"/>
              </a:buClr>
              <a:buSzPts val="1600"/>
              <a:buFont typeface="Arial"/>
              <a:buNone/>
            </a:pPr>
            <a:r>
              <a:rPr b="1" lang="en-US" sz="1600">
                <a:solidFill>
                  <a:srgbClr val="1D3A6D"/>
                </a:solidFill>
                <a:latin typeface="Arial"/>
                <a:ea typeface="Arial"/>
                <a:cs typeface="Arial"/>
                <a:sym typeface="Arial"/>
              </a:rPr>
              <a:t>Prepare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8"/>
          <p:cNvSpPr/>
          <p:nvPr/>
        </p:nvSpPr>
        <p:spPr>
          <a:xfrm>
            <a:off x="365760" y="3611880"/>
            <a:ext cx="19659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50"/>
              <a:buFont typeface="Arial"/>
              <a:buNone/>
            </a:pPr>
            <a:r>
              <a:rPr lang="en-US" sz="125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Finalize appliance and docs</a:t>
            </a:r>
            <a:endParaRPr sz="12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8"/>
          <p:cNvSpPr/>
          <p:nvPr/>
        </p:nvSpPr>
        <p:spPr>
          <a:xfrm>
            <a:off x="3154680" y="1920240"/>
            <a:ext cx="1143000" cy="1143000"/>
          </a:xfrm>
          <a:prstGeom prst="ellipse">
            <a:avLst/>
          </a:prstGeom>
          <a:solidFill>
            <a:srgbClr val="DCEAFE"/>
          </a:solidFill>
          <a:ln cap="flat" cmpd="sng" w="12700">
            <a:solidFill>
              <a:srgbClr val="1D3A6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8"/>
          <p:cNvSpPr/>
          <p:nvPr/>
        </p:nvSpPr>
        <p:spPr>
          <a:xfrm>
            <a:off x="3547872" y="2258568"/>
            <a:ext cx="3657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3A6D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1D3A6D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8"/>
          <p:cNvSpPr/>
          <p:nvPr/>
        </p:nvSpPr>
        <p:spPr>
          <a:xfrm>
            <a:off x="2743200" y="3246120"/>
            <a:ext cx="1965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3A6D"/>
              </a:buClr>
              <a:buSzPts val="1600"/>
              <a:buFont typeface="Arial"/>
              <a:buNone/>
            </a:pPr>
            <a:r>
              <a:rPr b="1" lang="en-US" sz="1600">
                <a:solidFill>
                  <a:srgbClr val="1D3A6D"/>
                </a:solidFill>
                <a:latin typeface="Arial"/>
                <a:ea typeface="Arial"/>
                <a:cs typeface="Arial"/>
                <a:sym typeface="Arial"/>
              </a:rPr>
              <a:t>Assess onsite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8"/>
          <p:cNvSpPr/>
          <p:nvPr/>
        </p:nvSpPr>
        <p:spPr>
          <a:xfrm>
            <a:off x="2743200" y="3611880"/>
            <a:ext cx="19659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50"/>
              <a:buFont typeface="Arial"/>
              <a:buNone/>
            </a:pPr>
            <a:r>
              <a:rPr lang="en-US" sz="125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Confirm current server, wiring, access</a:t>
            </a:r>
            <a:endParaRPr sz="12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8"/>
          <p:cNvSpPr/>
          <p:nvPr/>
        </p:nvSpPr>
        <p:spPr>
          <a:xfrm>
            <a:off x="5532120" y="1920240"/>
            <a:ext cx="1143000" cy="1143000"/>
          </a:xfrm>
          <a:prstGeom prst="ellipse">
            <a:avLst/>
          </a:prstGeom>
          <a:solidFill>
            <a:srgbClr val="DCEAFE"/>
          </a:solidFill>
          <a:ln cap="flat" cmpd="sng" w="12700">
            <a:solidFill>
              <a:srgbClr val="1D3A6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8"/>
          <p:cNvSpPr/>
          <p:nvPr/>
        </p:nvSpPr>
        <p:spPr>
          <a:xfrm>
            <a:off x="5925312" y="2258568"/>
            <a:ext cx="3657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3A6D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1D3A6D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8"/>
          <p:cNvSpPr/>
          <p:nvPr/>
        </p:nvSpPr>
        <p:spPr>
          <a:xfrm>
            <a:off x="5120640" y="3246120"/>
            <a:ext cx="1965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3A6D"/>
              </a:buClr>
              <a:buSzPts val="1600"/>
              <a:buFont typeface="Arial"/>
              <a:buNone/>
            </a:pPr>
            <a:r>
              <a:rPr b="1" lang="en-US" sz="1600">
                <a:solidFill>
                  <a:srgbClr val="1D3A6D"/>
                </a:solidFill>
                <a:latin typeface="Arial"/>
                <a:ea typeface="Arial"/>
                <a:cs typeface="Arial"/>
                <a:sym typeface="Arial"/>
              </a:rPr>
              <a:t>Bench test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8"/>
          <p:cNvSpPr/>
          <p:nvPr/>
        </p:nvSpPr>
        <p:spPr>
          <a:xfrm>
            <a:off x="5120640" y="3611880"/>
            <a:ext cx="19659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50"/>
              <a:buFont typeface="Arial"/>
              <a:buNone/>
            </a:pPr>
            <a:r>
              <a:rPr lang="en-US" sz="125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Validate controller path safely</a:t>
            </a:r>
            <a:endParaRPr sz="12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8"/>
          <p:cNvSpPr/>
          <p:nvPr/>
        </p:nvSpPr>
        <p:spPr>
          <a:xfrm>
            <a:off x="7909560" y="1920240"/>
            <a:ext cx="1143000" cy="1143000"/>
          </a:xfrm>
          <a:prstGeom prst="ellipse">
            <a:avLst/>
          </a:prstGeom>
          <a:solidFill>
            <a:srgbClr val="DCEAFE"/>
          </a:solidFill>
          <a:ln cap="flat" cmpd="sng" w="12700">
            <a:solidFill>
              <a:srgbClr val="1D3A6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8"/>
          <p:cNvSpPr/>
          <p:nvPr/>
        </p:nvSpPr>
        <p:spPr>
          <a:xfrm>
            <a:off x="8302752" y="2258568"/>
            <a:ext cx="3657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3A6D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1D3A6D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8"/>
          <p:cNvSpPr/>
          <p:nvPr/>
        </p:nvSpPr>
        <p:spPr>
          <a:xfrm>
            <a:off x="7498080" y="3246120"/>
            <a:ext cx="1965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3A6D"/>
              </a:buClr>
              <a:buSzPts val="1600"/>
              <a:buFont typeface="Arial"/>
              <a:buNone/>
            </a:pPr>
            <a:r>
              <a:rPr b="1" lang="en-US" sz="1600">
                <a:solidFill>
                  <a:srgbClr val="1D3A6D"/>
                </a:solidFill>
                <a:latin typeface="Arial"/>
                <a:ea typeface="Arial"/>
                <a:cs typeface="Arial"/>
                <a:sym typeface="Arial"/>
              </a:rPr>
              <a:t>Cut over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8"/>
          <p:cNvSpPr/>
          <p:nvPr/>
        </p:nvSpPr>
        <p:spPr>
          <a:xfrm>
            <a:off x="7498080" y="3611880"/>
            <a:ext cx="19659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50"/>
              <a:buFont typeface="Arial"/>
              <a:buNone/>
            </a:pPr>
            <a:r>
              <a:rPr lang="en-US" sz="125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Scheduled install with rollback</a:t>
            </a:r>
            <a:endParaRPr sz="12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8"/>
          <p:cNvSpPr/>
          <p:nvPr/>
        </p:nvSpPr>
        <p:spPr>
          <a:xfrm>
            <a:off x="10287000" y="1920240"/>
            <a:ext cx="1143000" cy="1143000"/>
          </a:xfrm>
          <a:prstGeom prst="ellipse">
            <a:avLst/>
          </a:prstGeom>
          <a:solidFill>
            <a:srgbClr val="DCEAFE"/>
          </a:solidFill>
          <a:ln cap="flat" cmpd="sng" w="12700">
            <a:solidFill>
              <a:srgbClr val="1D3A6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8"/>
          <p:cNvSpPr/>
          <p:nvPr/>
        </p:nvSpPr>
        <p:spPr>
          <a:xfrm>
            <a:off x="10680192" y="2258568"/>
            <a:ext cx="3657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3A6D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1D3A6D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8"/>
          <p:cNvSpPr/>
          <p:nvPr/>
        </p:nvSpPr>
        <p:spPr>
          <a:xfrm>
            <a:off x="9875520" y="3246120"/>
            <a:ext cx="1965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3A6D"/>
              </a:buClr>
              <a:buSzPts val="1600"/>
              <a:buFont typeface="Arial"/>
              <a:buNone/>
            </a:pPr>
            <a:r>
              <a:rPr b="1" lang="en-US" sz="1600">
                <a:solidFill>
                  <a:srgbClr val="1D3A6D"/>
                </a:solidFill>
                <a:latin typeface="Arial"/>
                <a:ea typeface="Arial"/>
                <a:cs typeface="Arial"/>
                <a:sym typeface="Arial"/>
              </a:rPr>
              <a:t>Handoff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8"/>
          <p:cNvSpPr/>
          <p:nvPr/>
        </p:nvSpPr>
        <p:spPr>
          <a:xfrm>
            <a:off x="9875520" y="3611880"/>
            <a:ext cx="19659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50"/>
              <a:buFont typeface="Arial"/>
              <a:buNone/>
            </a:pPr>
            <a:r>
              <a:rPr lang="en-US" sz="125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Document operation and support</a:t>
            </a:r>
            <a:endParaRPr sz="12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8"/>
          <p:cNvSpPr/>
          <p:nvPr/>
        </p:nvSpPr>
        <p:spPr>
          <a:xfrm>
            <a:off x="1188720" y="5257800"/>
            <a:ext cx="9875520" cy="713232"/>
          </a:xfrm>
          <a:prstGeom prst="roundRect">
            <a:avLst>
              <a:gd fmla="val 10256" name="adj"/>
            </a:avLst>
          </a:prstGeom>
          <a:solidFill>
            <a:srgbClr val="FFF8E1"/>
          </a:solidFill>
          <a:ln cap="flat" cmpd="sng" w="12700">
            <a:solidFill>
              <a:srgbClr val="E5B9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8"/>
          <p:cNvSpPr/>
          <p:nvPr/>
        </p:nvSpPr>
        <p:spPr>
          <a:xfrm>
            <a:off x="1417320" y="5458968"/>
            <a:ext cx="94183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3A6D"/>
              </a:buClr>
              <a:buSzPts val="2200"/>
              <a:buFont typeface="Arial"/>
              <a:buNone/>
            </a:pPr>
            <a:r>
              <a:rPr i="1" lang="en-US" sz="2200">
                <a:solidFill>
                  <a:srgbClr val="1D3A6D"/>
                </a:solidFill>
                <a:latin typeface="Arial"/>
                <a:ea typeface="Arial"/>
                <a:cs typeface="Arial"/>
                <a:sym typeface="Arial"/>
              </a:rPr>
              <a:t>Principle: preserve the current wall; do not disturb it until the replacement path is tested.</a:t>
            </a:r>
            <a:endParaRPr sz="2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8"/>
          <p:cNvSpPr/>
          <p:nvPr/>
        </p:nvSpPr>
        <p:spPr>
          <a:xfrm>
            <a:off x="502920" y="6473952"/>
            <a:ext cx="82296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750"/>
              <a:buFont typeface="Arial"/>
              <a:buNone/>
            </a:pPr>
            <a:r>
              <a:rPr lang="en-US" sz="750">
                <a:solidFill>
                  <a:srgbClr val="5B6472"/>
                </a:solidFill>
                <a:latin typeface="Arial"/>
                <a:ea typeface="Arial"/>
                <a:cs typeface="Arial"/>
                <a:sym typeface="Arial"/>
              </a:rPr>
              <a:t>Congregation Beth Sholom • Yahrzeit Wall modernization</a:t>
            </a:r>
            <a:endParaRPr sz="7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8"/>
          <p:cNvSpPr txBox="1"/>
          <p:nvPr>
            <p:ph idx="4294967295" type="sldNum"/>
          </p:nvPr>
        </p:nvSpPr>
        <p:spPr>
          <a:xfrm>
            <a:off x="11475720" y="6446520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>
              <a:solidFill>
                <a:srgbClr val="6B728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9"/>
          <p:cNvSpPr/>
          <p:nvPr/>
        </p:nvSpPr>
        <p:spPr>
          <a:xfrm>
            <a:off x="502920" y="384048"/>
            <a:ext cx="69494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3A6D"/>
              </a:buClr>
              <a:buSzPts val="2700"/>
              <a:buFont typeface="Play"/>
              <a:buNone/>
            </a:pPr>
            <a:r>
              <a:rPr b="1" lang="en-US" sz="2700">
                <a:solidFill>
                  <a:srgbClr val="1D3A6D"/>
                </a:solidFill>
                <a:latin typeface="Play"/>
                <a:ea typeface="Play"/>
                <a:cs typeface="Play"/>
                <a:sym typeface="Play"/>
              </a:rPr>
              <a:t>Small working team</a:t>
            </a:r>
            <a:endParaRPr sz="2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9"/>
          <p:cNvSpPr/>
          <p:nvPr/>
        </p:nvSpPr>
        <p:spPr>
          <a:xfrm>
            <a:off x="530352" y="786384"/>
            <a:ext cx="8046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150"/>
              <a:buFont typeface="Arial"/>
              <a:buNone/>
            </a:pPr>
            <a:r>
              <a:rPr lang="en-US" sz="1150">
                <a:solidFill>
                  <a:srgbClr val="5B6472"/>
                </a:solidFill>
                <a:latin typeface="Arial"/>
                <a:ea typeface="Arial"/>
                <a:cs typeface="Arial"/>
                <a:sym typeface="Arial"/>
              </a:rPr>
              <a:t>The project needs coordination, not a large committee</a:t>
            </a:r>
            <a:endParaRPr sz="1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9"/>
          <p:cNvSpPr/>
          <p:nvPr/>
        </p:nvSpPr>
        <p:spPr>
          <a:xfrm>
            <a:off x="868680" y="1143000"/>
            <a:ext cx="2743200" cy="502920"/>
          </a:xfrm>
          <a:prstGeom prst="roundRect">
            <a:avLst>
              <a:gd fmla="val 14545" name="adj"/>
            </a:avLst>
          </a:prstGeom>
          <a:solidFill>
            <a:srgbClr val="DCEAFE"/>
          </a:solidFill>
          <a:ln cap="flat" cmpd="sng" w="12700">
            <a:solidFill>
              <a:srgbClr val="DCEA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9"/>
          <p:cNvSpPr/>
          <p:nvPr/>
        </p:nvSpPr>
        <p:spPr>
          <a:xfrm>
            <a:off x="1051560" y="1289304"/>
            <a:ext cx="23317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3A6D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1D3A6D"/>
                </a:solidFill>
                <a:latin typeface="Arial"/>
                <a:ea typeface="Arial"/>
                <a:cs typeface="Arial"/>
                <a:sym typeface="Arial"/>
              </a:rPr>
              <a:t>Engineering lead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9"/>
          <p:cNvSpPr/>
          <p:nvPr/>
        </p:nvSpPr>
        <p:spPr>
          <a:xfrm>
            <a:off x="3886200" y="1261872"/>
            <a:ext cx="72694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500"/>
              <a:buFont typeface="Arial"/>
              <a:buNone/>
            </a:pPr>
            <a:r>
              <a:rPr lang="en-US" sz="15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Allan: historical knowledge, software, controller path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9"/>
          <p:cNvSpPr/>
          <p:nvPr/>
        </p:nvSpPr>
        <p:spPr>
          <a:xfrm>
            <a:off x="868680" y="1965960"/>
            <a:ext cx="2743200" cy="502920"/>
          </a:xfrm>
          <a:prstGeom prst="roundRect">
            <a:avLst>
              <a:gd fmla="val 14545" name="adj"/>
            </a:avLst>
          </a:prstGeom>
          <a:solidFill>
            <a:srgbClr val="DCEAFE"/>
          </a:solidFill>
          <a:ln cap="flat" cmpd="sng" w="12700">
            <a:solidFill>
              <a:srgbClr val="DCEA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9"/>
          <p:cNvSpPr/>
          <p:nvPr/>
        </p:nvSpPr>
        <p:spPr>
          <a:xfrm>
            <a:off x="1051560" y="2112264"/>
            <a:ext cx="23317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3A6D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1D3A6D"/>
                </a:solidFill>
                <a:latin typeface="Arial"/>
                <a:ea typeface="Arial"/>
                <a:cs typeface="Arial"/>
                <a:sym typeface="Arial"/>
              </a:rPr>
              <a:t>Engineering helper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9"/>
          <p:cNvSpPr/>
          <p:nvPr/>
        </p:nvSpPr>
        <p:spPr>
          <a:xfrm>
            <a:off x="3886200" y="2084832"/>
            <a:ext cx="72694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500"/>
              <a:buFont typeface="Arial"/>
              <a:buNone/>
            </a:pPr>
            <a:r>
              <a:rPr lang="en-US" sz="15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Second technical person for review and onsite work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9"/>
          <p:cNvSpPr/>
          <p:nvPr/>
        </p:nvSpPr>
        <p:spPr>
          <a:xfrm>
            <a:off x="868680" y="2788920"/>
            <a:ext cx="2743200" cy="502920"/>
          </a:xfrm>
          <a:prstGeom prst="roundRect">
            <a:avLst>
              <a:gd fmla="val 14545" name="adj"/>
            </a:avLst>
          </a:prstGeom>
          <a:solidFill>
            <a:srgbClr val="DCEAFE"/>
          </a:solidFill>
          <a:ln cap="flat" cmpd="sng" w="12700">
            <a:solidFill>
              <a:srgbClr val="DCEA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9"/>
          <p:cNvSpPr/>
          <p:nvPr/>
        </p:nvSpPr>
        <p:spPr>
          <a:xfrm>
            <a:off x="1051560" y="2935224"/>
            <a:ext cx="23317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3A6D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1D3A6D"/>
                </a:solidFill>
                <a:latin typeface="Arial"/>
                <a:ea typeface="Arial"/>
                <a:cs typeface="Arial"/>
                <a:sym typeface="Arial"/>
              </a:rPr>
              <a:t>Facilities lead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9"/>
          <p:cNvSpPr/>
          <p:nvPr/>
        </p:nvSpPr>
        <p:spPr>
          <a:xfrm>
            <a:off x="3886200" y="2907792"/>
            <a:ext cx="72694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500"/>
              <a:buFont typeface="Arial"/>
              <a:buNone/>
            </a:pPr>
            <a:r>
              <a:rPr lang="en-US" sz="15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Access, scheduling, physical installation coordination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9"/>
          <p:cNvSpPr/>
          <p:nvPr/>
        </p:nvSpPr>
        <p:spPr>
          <a:xfrm>
            <a:off x="868680" y="3611880"/>
            <a:ext cx="2743200" cy="502920"/>
          </a:xfrm>
          <a:prstGeom prst="roundRect">
            <a:avLst>
              <a:gd fmla="val 14545" name="adj"/>
            </a:avLst>
          </a:prstGeom>
          <a:solidFill>
            <a:srgbClr val="DCEAFE"/>
          </a:solidFill>
          <a:ln cap="flat" cmpd="sng" w="12700">
            <a:solidFill>
              <a:srgbClr val="DCEA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9"/>
          <p:cNvSpPr/>
          <p:nvPr/>
        </p:nvSpPr>
        <p:spPr>
          <a:xfrm>
            <a:off x="1051560" y="3758184"/>
            <a:ext cx="23317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3A6D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1D3A6D"/>
                </a:solidFill>
                <a:latin typeface="Arial"/>
                <a:ea typeface="Arial"/>
                <a:cs typeface="Arial"/>
                <a:sym typeface="Arial"/>
              </a:rPr>
              <a:t>CBS technical contact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9"/>
          <p:cNvSpPr/>
          <p:nvPr/>
        </p:nvSpPr>
        <p:spPr>
          <a:xfrm>
            <a:off x="3886200" y="3730752"/>
            <a:ext cx="72694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500"/>
              <a:buFont typeface="Arial"/>
              <a:buNone/>
            </a:pPr>
            <a:r>
              <a:rPr lang="en-US" sz="15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Local knowledge of current server</a:t>
            </a:r>
            <a:r>
              <a:rPr lang="en-US" sz="1500">
                <a:solidFill>
                  <a:srgbClr val="1F2937"/>
                </a:solidFill>
              </a:rPr>
              <a:t>, </a:t>
            </a:r>
            <a:r>
              <a:rPr lang="en-US" sz="15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IP network </a:t>
            </a:r>
            <a:r>
              <a:rPr lang="en-US" sz="1500">
                <a:solidFill>
                  <a:srgbClr val="1F2937"/>
                </a:solidFill>
              </a:rPr>
              <a:t>&amp;  passwords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9"/>
          <p:cNvSpPr/>
          <p:nvPr/>
        </p:nvSpPr>
        <p:spPr>
          <a:xfrm>
            <a:off x="868680" y="4434840"/>
            <a:ext cx="2743200" cy="502920"/>
          </a:xfrm>
          <a:prstGeom prst="roundRect">
            <a:avLst>
              <a:gd fmla="val 14545" name="adj"/>
            </a:avLst>
          </a:prstGeom>
          <a:solidFill>
            <a:srgbClr val="DCEAFE"/>
          </a:solidFill>
          <a:ln cap="flat" cmpd="sng" w="12700">
            <a:solidFill>
              <a:srgbClr val="DCEA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9"/>
          <p:cNvSpPr/>
          <p:nvPr/>
        </p:nvSpPr>
        <p:spPr>
          <a:xfrm>
            <a:off x="1051560" y="4581144"/>
            <a:ext cx="23317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3A6D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1D3A6D"/>
                </a:solidFill>
                <a:latin typeface="Arial"/>
                <a:ea typeface="Arial"/>
                <a:cs typeface="Arial"/>
                <a:sym typeface="Arial"/>
              </a:rPr>
              <a:t>Clergy / office stakeholder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9"/>
          <p:cNvSpPr/>
          <p:nvPr/>
        </p:nvSpPr>
        <p:spPr>
          <a:xfrm>
            <a:off x="3886200" y="4553712"/>
            <a:ext cx="72694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500"/>
              <a:buFont typeface="Arial"/>
              <a:buNone/>
            </a:pPr>
            <a:r>
              <a:rPr lang="en-US" sz="15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Ritual policy and operational acceptance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old_deck_imgs/p14-14.png" id="158" name="Google Shape;158;p9"/>
          <p:cNvPicPr preferRelativeResize="0"/>
          <p:nvPr/>
        </p:nvPicPr>
        <p:blipFill rotWithShape="1">
          <a:blip r:embed="rId3">
            <a:alphaModFix/>
          </a:blip>
          <a:srcRect b="30117" l="0" r="0" t="30117"/>
          <a:stretch/>
        </p:blipFill>
        <p:spPr>
          <a:xfrm>
            <a:off x="7635250" y="4745726"/>
            <a:ext cx="3474700" cy="1700800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9"/>
          <p:cNvSpPr/>
          <p:nvPr/>
        </p:nvSpPr>
        <p:spPr>
          <a:xfrm>
            <a:off x="502920" y="6473952"/>
            <a:ext cx="82296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750"/>
              <a:buFont typeface="Arial"/>
              <a:buNone/>
            </a:pPr>
            <a:r>
              <a:rPr lang="en-US" sz="750">
                <a:solidFill>
                  <a:srgbClr val="5B6472"/>
                </a:solidFill>
                <a:latin typeface="Arial"/>
                <a:ea typeface="Arial"/>
                <a:cs typeface="Arial"/>
                <a:sym typeface="Arial"/>
              </a:rPr>
              <a:t>Congregation Beth Sholom • Yahrzeit Wall modernization</a:t>
            </a:r>
            <a:endParaRPr sz="7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9"/>
          <p:cNvSpPr txBox="1"/>
          <p:nvPr>
            <p:ph idx="4294967295" type="sldNum"/>
          </p:nvPr>
        </p:nvSpPr>
        <p:spPr>
          <a:xfrm>
            <a:off x="11475720" y="6446520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>
              <a:solidFill>
                <a:srgbClr val="6B728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0"/>
          <p:cNvSpPr/>
          <p:nvPr/>
        </p:nvSpPr>
        <p:spPr>
          <a:xfrm>
            <a:off x="502920" y="384048"/>
            <a:ext cx="69494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3A6D"/>
              </a:buClr>
              <a:buSzPts val="2700"/>
              <a:buFont typeface="Play"/>
              <a:buNone/>
            </a:pPr>
            <a:r>
              <a:rPr b="1" lang="en-US" sz="2700">
                <a:solidFill>
                  <a:srgbClr val="1D3A6D"/>
                </a:solidFill>
                <a:latin typeface="Play"/>
                <a:ea typeface="Play"/>
                <a:cs typeface="Play"/>
                <a:sym typeface="Play"/>
              </a:rPr>
              <a:t>What I am asking CBS to do next</a:t>
            </a:r>
            <a:endParaRPr sz="2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10"/>
          <p:cNvSpPr/>
          <p:nvPr/>
        </p:nvSpPr>
        <p:spPr>
          <a:xfrm>
            <a:off x="530352" y="786384"/>
            <a:ext cx="8046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150"/>
              <a:buFont typeface="Arial"/>
              <a:buNone/>
            </a:pPr>
            <a:r>
              <a:rPr lang="en-US" sz="1150">
                <a:solidFill>
                  <a:srgbClr val="5B6472"/>
                </a:solidFill>
                <a:latin typeface="Arial"/>
                <a:ea typeface="Arial"/>
                <a:cs typeface="Arial"/>
                <a:sym typeface="Arial"/>
              </a:rPr>
              <a:t>A focused first step</a:t>
            </a:r>
            <a:endParaRPr sz="1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10"/>
          <p:cNvSpPr/>
          <p:nvPr/>
        </p:nvSpPr>
        <p:spPr>
          <a:xfrm>
            <a:off x="960120" y="1170432"/>
            <a:ext cx="576072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-3683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200"/>
              <a:buFont typeface="Arial"/>
              <a:buChar char="●"/>
            </a:pPr>
            <a:r>
              <a:rPr lang="en-US" sz="22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Identify the current CBS point people: facilities, office, clergy, and technical contact</a:t>
            </a:r>
            <a:endParaRPr sz="2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83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200"/>
              <a:buFont typeface="Arial"/>
              <a:buChar char="●"/>
            </a:pPr>
            <a:r>
              <a:rPr lang="en-US" sz="22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Authorize </a:t>
            </a:r>
            <a:r>
              <a:rPr lang="en-US" sz="2200">
                <a:solidFill>
                  <a:srgbClr val="1F2937"/>
                </a:solidFill>
              </a:rPr>
              <a:t>this</a:t>
            </a:r>
            <a:r>
              <a:rPr lang="en-US" sz="22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 working group</a:t>
            </a:r>
            <a:endParaRPr sz="2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83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200"/>
              <a:buFont typeface="Arial"/>
              <a:buChar char="●"/>
            </a:pPr>
            <a:r>
              <a:rPr lang="en-US" sz="22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Provide access to inspect the current server, network path, and controller wiring</a:t>
            </a:r>
            <a:endParaRPr sz="2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83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200"/>
              <a:buFont typeface="Arial"/>
              <a:buChar char="●"/>
            </a:pPr>
            <a:r>
              <a:rPr lang="en-US" sz="22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Schedule a planning meeting, then a controlled onsite work window</a:t>
            </a:r>
            <a:endParaRPr sz="2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old_deck_imgs/p9-09.png" id="169" name="Google Shape;169;p10"/>
          <p:cNvPicPr preferRelativeResize="0"/>
          <p:nvPr/>
        </p:nvPicPr>
        <p:blipFill rotWithShape="1">
          <a:blip r:embed="rId3">
            <a:alphaModFix/>
          </a:blip>
          <a:srcRect b="0" l="22802" r="22802" t="0"/>
          <a:stretch/>
        </p:blipFill>
        <p:spPr>
          <a:xfrm>
            <a:off x="7315200" y="1143000"/>
            <a:ext cx="4023360" cy="4160520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0"/>
          <p:cNvSpPr/>
          <p:nvPr/>
        </p:nvSpPr>
        <p:spPr>
          <a:xfrm>
            <a:off x="1051560" y="5532120"/>
            <a:ext cx="10149840" cy="640080"/>
          </a:xfrm>
          <a:prstGeom prst="roundRect">
            <a:avLst>
              <a:gd fmla="val 11429" name="adj"/>
            </a:avLst>
          </a:prstGeom>
          <a:solidFill>
            <a:srgbClr val="FFF8E1"/>
          </a:solidFill>
          <a:ln cap="flat" cmpd="sng" w="12700">
            <a:solidFill>
              <a:srgbClr val="E5B9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10"/>
          <p:cNvSpPr/>
          <p:nvPr/>
        </p:nvSpPr>
        <p:spPr>
          <a:xfrm>
            <a:off x="1280160" y="5733288"/>
            <a:ext cx="96926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3A6D"/>
              </a:buClr>
              <a:buSzPts val="2200"/>
              <a:buFont typeface="Arial"/>
              <a:buNone/>
            </a:pPr>
            <a:r>
              <a:rPr i="1" lang="en-US" sz="2200">
                <a:solidFill>
                  <a:srgbClr val="1D3A6D"/>
                </a:solidFill>
                <a:latin typeface="Arial"/>
                <a:ea typeface="Arial"/>
                <a:cs typeface="Arial"/>
                <a:sym typeface="Arial"/>
              </a:rPr>
              <a:t>Goal: preserve the Yahrzeit Wall as a reliable, maintainable memorial system for the congregation.</a:t>
            </a:r>
            <a:endParaRPr sz="2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10"/>
          <p:cNvSpPr/>
          <p:nvPr/>
        </p:nvSpPr>
        <p:spPr>
          <a:xfrm>
            <a:off x="502920" y="6473952"/>
            <a:ext cx="82296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750"/>
              <a:buFont typeface="Arial"/>
              <a:buNone/>
            </a:pPr>
            <a:r>
              <a:rPr lang="en-US" sz="750">
                <a:solidFill>
                  <a:srgbClr val="5B6472"/>
                </a:solidFill>
                <a:latin typeface="Arial"/>
                <a:ea typeface="Arial"/>
                <a:cs typeface="Arial"/>
                <a:sym typeface="Arial"/>
              </a:rPr>
              <a:t>Congregation Beth Sholom • Yahrzeit Wall modernization</a:t>
            </a:r>
            <a:endParaRPr sz="7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10"/>
          <p:cNvSpPr txBox="1"/>
          <p:nvPr>
            <p:ph idx="4294967295" type="sldNum"/>
          </p:nvPr>
        </p:nvSpPr>
        <p:spPr>
          <a:xfrm>
            <a:off x="11475720" y="6446520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>
              <a:solidFill>
                <a:srgbClr val="6B728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mnt/data/old_deck_imgs/p14-14.png" id="179" name="Google Shape;179;p11"/>
          <p:cNvPicPr preferRelativeResize="0"/>
          <p:nvPr/>
        </p:nvPicPr>
        <p:blipFill rotWithShape="1">
          <a:blip r:embed="rId3">
            <a:alphaModFix/>
          </a:blip>
          <a:srcRect b="2665" l="0" r="0" t="2665"/>
          <a:stretch/>
        </p:blipFill>
        <p:spPr>
          <a:xfrm>
            <a:off x="0" y="164592"/>
            <a:ext cx="12191695" cy="6492240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11"/>
          <p:cNvSpPr/>
          <p:nvPr/>
        </p:nvSpPr>
        <p:spPr>
          <a:xfrm>
            <a:off x="0" y="164592"/>
            <a:ext cx="12191695" cy="6492240"/>
          </a:xfrm>
          <a:prstGeom prst="rect">
            <a:avLst/>
          </a:prstGeom>
          <a:solidFill>
            <a:srgbClr val="000000">
              <a:alpha val="58039"/>
            </a:srgbClr>
          </a:solidFill>
          <a:ln cap="flat" cmpd="sng" w="12700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11"/>
          <p:cNvSpPr/>
          <p:nvPr/>
        </p:nvSpPr>
        <p:spPr>
          <a:xfrm>
            <a:off x="749808" y="2148840"/>
            <a:ext cx="58521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Arial"/>
              <a:buNone/>
            </a:pPr>
            <a:r>
              <a:rPr b="1" lang="en-US" sz="3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Technical Appendix</a:t>
            </a:r>
            <a:endParaRPr sz="3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11"/>
          <p:cNvSpPr/>
          <p:nvPr/>
        </p:nvSpPr>
        <p:spPr>
          <a:xfrm>
            <a:off x="786384" y="2816352"/>
            <a:ext cx="5760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DE68A"/>
              </a:buClr>
              <a:buSzPts val="1600"/>
              <a:buFont typeface="Arial"/>
              <a:buNone/>
            </a:pPr>
            <a:r>
              <a:rPr lang="en-US" sz="1600">
                <a:solidFill>
                  <a:srgbClr val="FDE68A"/>
                </a:solidFill>
                <a:latin typeface="Arial"/>
                <a:ea typeface="Arial"/>
                <a:cs typeface="Arial"/>
                <a:sym typeface="Arial"/>
              </a:rPr>
              <a:t>Architecture • controller • appliance • screens • deployment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11"/>
          <p:cNvSpPr txBox="1"/>
          <p:nvPr>
            <p:ph idx="4294967295" type="sldNum"/>
          </p:nvPr>
        </p:nvSpPr>
        <p:spPr>
          <a:xfrm>
            <a:off x="11475720" y="6446520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>
              <a:solidFill>
                <a:srgbClr val="6B728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2"/>
          <p:cNvSpPr/>
          <p:nvPr/>
        </p:nvSpPr>
        <p:spPr>
          <a:xfrm>
            <a:off x="502920" y="384048"/>
            <a:ext cx="69494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3A6D"/>
              </a:buClr>
              <a:buSzPts val="2700"/>
              <a:buFont typeface="Play"/>
              <a:buNone/>
            </a:pPr>
            <a:r>
              <a:rPr b="1" lang="en-US" sz="2700">
                <a:solidFill>
                  <a:srgbClr val="1D3A6D"/>
                </a:solidFill>
                <a:latin typeface="Play"/>
                <a:ea typeface="Play"/>
                <a:cs typeface="Play"/>
                <a:sym typeface="Play"/>
              </a:rPr>
              <a:t>System architecture</a:t>
            </a:r>
            <a:endParaRPr sz="2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12"/>
          <p:cNvSpPr/>
          <p:nvPr/>
        </p:nvSpPr>
        <p:spPr>
          <a:xfrm>
            <a:off x="530352" y="786384"/>
            <a:ext cx="8046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150"/>
              <a:buFont typeface="Arial"/>
              <a:buNone/>
            </a:pPr>
            <a:r>
              <a:rPr lang="en-US" sz="1150">
                <a:solidFill>
                  <a:srgbClr val="5B6472"/>
                </a:solidFill>
                <a:latin typeface="Arial"/>
                <a:ea typeface="Arial"/>
                <a:cs typeface="Arial"/>
                <a:sym typeface="Arial"/>
              </a:rPr>
              <a:t>The wall is physical, electronic, and software</a:t>
            </a:r>
            <a:endParaRPr sz="1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12"/>
          <p:cNvSpPr/>
          <p:nvPr/>
        </p:nvSpPr>
        <p:spPr>
          <a:xfrm>
            <a:off x="9674352" y="438912"/>
            <a:ext cx="1920240" cy="329184"/>
          </a:xfrm>
          <a:prstGeom prst="roundRect">
            <a:avLst>
              <a:gd fmla="val 22222" name="adj"/>
            </a:avLst>
          </a:prstGeom>
          <a:solidFill>
            <a:srgbClr val="DCEAFE"/>
          </a:solidFill>
          <a:ln cap="flat" cmpd="sng" w="12700">
            <a:solidFill>
              <a:srgbClr val="DCEA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12"/>
          <p:cNvSpPr/>
          <p:nvPr/>
        </p:nvSpPr>
        <p:spPr>
          <a:xfrm>
            <a:off x="9829800" y="521208"/>
            <a:ext cx="1645920" cy="1188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3A6D"/>
              </a:buClr>
              <a:buSzPts val="850"/>
              <a:buFont typeface="Arial"/>
              <a:buNone/>
            </a:pPr>
            <a:r>
              <a:rPr b="1" lang="en-US" sz="850">
                <a:solidFill>
                  <a:srgbClr val="1D3A6D"/>
                </a:solidFill>
                <a:latin typeface="Arial"/>
                <a:ea typeface="Arial"/>
                <a:cs typeface="Arial"/>
                <a:sym typeface="Arial"/>
              </a:rPr>
              <a:t>APPENDIX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12"/>
          <p:cNvSpPr/>
          <p:nvPr/>
        </p:nvSpPr>
        <p:spPr>
          <a:xfrm>
            <a:off x="2843784" y="2313432"/>
            <a:ext cx="384048" cy="219456"/>
          </a:xfrm>
          <a:prstGeom prst="chevron">
            <a:avLst>
              <a:gd fmla="val 50000" name="adj"/>
            </a:avLst>
          </a:prstGeom>
          <a:solidFill>
            <a:srgbClr val="E5B93C"/>
          </a:solidFill>
          <a:ln cap="flat" cmpd="sng" w="12700">
            <a:solidFill>
              <a:srgbClr val="E5B9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12"/>
          <p:cNvSpPr/>
          <p:nvPr/>
        </p:nvSpPr>
        <p:spPr>
          <a:xfrm>
            <a:off x="5404104" y="2313432"/>
            <a:ext cx="384048" cy="219456"/>
          </a:xfrm>
          <a:prstGeom prst="chevron">
            <a:avLst>
              <a:gd fmla="val 50000" name="adj"/>
            </a:avLst>
          </a:prstGeom>
          <a:solidFill>
            <a:srgbClr val="E5B93C"/>
          </a:solidFill>
          <a:ln cap="flat" cmpd="sng" w="12700">
            <a:solidFill>
              <a:srgbClr val="E5B9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12"/>
          <p:cNvSpPr/>
          <p:nvPr/>
        </p:nvSpPr>
        <p:spPr>
          <a:xfrm>
            <a:off x="7964424" y="2313432"/>
            <a:ext cx="384048" cy="219456"/>
          </a:xfrm>
          <a:prstGeom prst="chevron">
            <a:avLst>
              <a:gd fmla="val 50000" name="adj"/>
            </a:avLst>
          </a:prstGeom>
          <a:solidFill>
            <a:srgbClr val="E5B93C"/>
          </a:solidFill>
          <a:ln cap="flat" cmpd="sng" w="12700">
            <a:solidFill>
              <a:srgbClr val="E5B9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12"/>
          <p:cNvSpPr/>
          <p:nvPr/>
        </p:nvSpPr>
        <p:spPr>
          <a:xfrm>
            <a:off x="685800" y="1965960"/>
            <a:ext cx="2057400" cy="914400"/>
          </a:xfrm>
          <a:prstGeom prst="roundRect">
            <a:avLst>
              <a:gd fmla="val 12000" name="adj"/>
            </a:avLst>
          </a:prstGeom>
          <a:solidFill>
            <a:srgbClr val="FFFFFF"/>
          </a:solidFill>
          <a:ln cap="flat" cmpd="sng" w="15225">
            <a:solidFill>
              <a:srgbClr val="1D3A6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12"/>
          <p:cNvSpPr/>
          <p:nvPr/>
        </p:nvSpPr>
        <p:spPr>
          <a:xfrm>
            <a:off x="822960" y="2130552"/>
            <a:ext cx="17830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3A6D"/>
              </a:buClr>
              <a:buSzPts val="1600"/>
              <a:buFont typeface="Arial"/>
              <a:buNone/>
            </a:pPr>
            <a:r>
              <a:rPr b="1" lang="en-US" sz="1600">
                <a:solidFill>
                  <a:srgbClr val="1D3A6D"/>
                </a:solidFill>
                <a:latin typeface="Arial"/>
                <a:ea typeface="Arial"/>
                <a:cs typeface="Arial"/>
                <a:sym typeface="Arial"/>
              </a:rPr>
              <a:t>Glass panels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12"/>
          <p:cNvSpPr/>
          <p:nvPr/>
        </p:nvSpPr>
        <p:spPr>
          <a:xfrm>
            <a:off x="822960" y="2468880"/>
            <a:ext cx="1783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5B6472"/>
                </a:solidFill>
                <a:latin typeface="Arial"/>
                <a:ea typeface="Arial"/>
                <a:cs typeface="Arial"/>
                <a:sym typeface="Arial"/>
              </a:rPr>
              <a:t>Etched names + LEDs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12"/>
          <p:cNvSpPr/>
          <p:nvPr/>
        </p:nvSpPr>
        <p:spPr>
          <a:xfrm>
            <a:off x="3246120" y="1965960"/>
            <a:ext cx="2057400" cy="914400"/>
          </a:xfrm>
          <a:prstGeom prst="roundRect">
            <a:avLst>
              <a:gd fmla="val 12000" name="adj"/>
            </a:avLst>
          </a:prstGeom>
          <a:solidFill>
            <a:srgbClr val="FFFFFF"/>
          </a:solidFill>
          <a:ln cap="flat" cmpd="sng" w="15225">
            <a:solidFill>
              <a:srgbClr val="1D3A6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12"/>
          <p:cNvSpPr/>
          <p:nvPr/>
        </p:nvSpPr>
        <p:spPr>
          <a:xfrm>
            <a:off x="3383280" y="2130552"/>
            <a:ext cx="17830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3A6D"/>
              </a:buClr>
              <a:buSzPts val="1600"/>
              <a:buFont typeface="Arial"/>
              <a:buNone/>
            </a:pPr>
            <a:r>
              <a:rPr b="1" lang="en-US" sz="1600">
                <a:solidFill>
                  <a:srgbClr val="1D3A6D"/>
                </a:solidFill>
                <a:latin typeface="Arial"/>
                <a:ea typeface="Arial"/>
                <a:cs typeface="Arial"/>
                <a:sym typeface="Arial"/>
              </a:rPr>
              <a:t>Pixel chain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12"/>
          <p:cNvSpPr/>
          <p:nvPr/>
        </p:nvSpPr>
        <p:spPr>
          <a:xfrm>
            <a:off x="3383280" y="2468880"/>
            <a:ext cx="1783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5B6472"/>
                </a:solidFill>
                <a:latin typeface="Arial"/>
                <a:ea typeface="Arial"/>
                <a:cs typeface="Arial"/>
                <a:sym typeface="Arial"/>
              </a:rPr>
              <a:t>DATA • CLOCK • LATCH • OE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12"/>
          <p:cNvSpPr/>
          <p:nvPr/>
        </p:nvSpPr>
        <p:spPr>
          <a:xfrm>
            <a:off x="5806440" y="1965960"/>
            <a:ext cx="2057400" cy="914400"/>
          </a:xfrm>
          <a:prstGeom prst="roundRect">
            <a:avLst>
              <a:gd fmla="val 12000" name="adj"/>
            </a:avLst>
          </a:prstGeom>
          <a:solidFill>
            <a:srgbClr val="FFFFFF"/>
          </a:solidFill>
          <a:ln cap="flat" cmpd="sng" w="15225">
            <a:solidFill>
              <a:srgbClr val="1D3A6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12"/>
          <p:cNvSpPr/>
          <p:nvPr/>
        </p:nvSpPr>
        <p:spPr>
          <a:xfrm>
            <a:off x="5943600" y="2130552"/>
            <a:ext cx="17830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3A6D"/>
              </a:buClr>
              <a:buSzPts val="1600"/>
              <a:buFont typeface="Arial"/>
              <a:buNone/>
            </a:pPr>
            <a:r>
              <a:rPr b="1" lang="en-US" sz="1600">
                <a:solidFill>
                  <a:srgbClr val="1D3A6D"/>
                </a:solidFill>
                <a:latin typeface="Arial"/>
                <a:ea typeface="Arial"/>
                <a:cs typeface="Arial"/>
                <a:sym typeface="Arial"/>
              </a:rPr>
              <a:t>Controller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12"/>
          <p:cNvSpPr/>
          <p:nvPr/>
        </p:nvSpPr>
        <p:spPr>
          <a:xfrm>
            <a:off x="5943600" y="2468880"/>
            <a:ext cx="1783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5B6472"/>
                </a:solidFill>
                <a:latin typeface="Arial"/>
                <a:ea typeface="Arial"/>
                <a:cs typeface="Arial"/>
                <a:sym typeface="Arial"/>
              </a:rPr>
              <a:t>Arduino-class embedded logic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12"/>
          <p:cNvSpPr/>
          <p:nvPr/>
        </p:nvSpPr>
        <p:spPr>
          <a:xfrm>
            <a:off x="8366760" y="1965960"/>
            <a:ext cx="2057400" cy="914400"/>
          </a:xfrm>
          <a:prstGeom prst="roundRect">
            <a:avLst>
              <a:gd fmla="val 12000" name="adj"/>
            </a:avLst>
          </a:prstGeom>
          <a:solidFill>
            <a:srgbClr val="FFFFFF"/>
          </a:solidFill>
          <a:ln cap="flat" cmpd="sng" w="15225">
            <a:solidFill>
              <a:srgbClr val="1D3A6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12"/>
          <p:cNvSpPr/>
          <p:nvPr/>
        </p:nvSpPr>
        <p:spPr>
          <a:xfrm>
            <a:off x="8503920" y="2130552"/>
            <a:ext cx="17830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3A6D"/>
              </a:buClr>
              <a:buSzPts val="1600"/>
              <a:buFont typeface="Arial"/>
              <a:buNone/>
            </a:pPr>
            <a:r>
              <a:rPr b="1" lang="en-US" sz="1600">
                <a:solidFill>
                  <a:srgbClr val="1D3A6D"/>
                </a:solidFill>
                <a:latin typeface="Arial"/>
                <a:ea typeface="Arial"/>
                <a:cs typeface="Arial"/>
                <a:sym typeface="Arial"/>
              </a:rPr>
              <a:t>Appliance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12"/>
          <p:cNvSpPr/>
          <p:nvPr/>
        </p:nvSpPr>
        <p:spPr>
          <a:xfrm>
            <a:off x="8503920" y="2468880"/>
            <a:ext cx="1783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5B6472"/>
                </a:solidFill>
                <a:latin typeface="Arial"/>
                <a:ea typeface="Arial"/>
                <a:cs typeface="Arial"/>
                <a:sym typeface="Arial"/>
              </a:rPr>
              <a:t>Apache/PHP + database + scheduler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12"/>
          <p:cNvSpPr/>
          <p:nvPr/>
        </p:nvSpPr>
        <p:spPr>
          <a:xfrm>
            <a:off x="1828800" y="3886200"/>
            <a:ext cx="8503920" cy="1417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-3492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900"/>
              <a:buFont typeface="Arial"/>
              <a:buChar char="❏"/>
            </a:pPr>
            <a:r>
              <a:rPr lang="en-US" sz="19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The UI and reports show calculated policy state</a:t>
            </a:r>
            <a:endParaRPr sz="1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92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900"/>
              <a:buFont typeface="Arial"/>
              <a:buChar char="❏"/>
            </a:pPr>
            <a:r>
              <a:rPr lang="en-US" sz="19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The controller sends only lighting commands to the wall</a:t>
            </a:r>
            <a:endParaRPr sz="1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92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900"/>
              <a:buFont typeface="Arial"/>
              <a:buChar char="❏"/>
            </a:pPr>
            <a:r>
              <a:rPr lang="en-US" sz="19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The project preserves the wall and renews maintainability</a:t>
            </a:r>
            <a:endParaRPr sz="1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12"/>
          <p:cNvSpPr/>
          <p:nvPr/>
        </p:nvSpPr>
        <p:spPr>
          <a:xfrm>
            <a:off x="502920" y="6473952"/>
            <a:ext cx="82296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750"/>
              <a:buFont typeface="Arial"/>
              <a:buNone/>
            </a:pPr>
            <a:r>
              <a:rPr lang="en-US" sz="750">
                <a:solidFill>
                  <a:srgbClr val="5B6472"/>
                </a:solidFill>
                <a:latin typeface="Arial"/>
                <a:ea typeface="Arial"/>
                <a:cs typeface="Arial"/>
                <a:sym typeface="Arial"/>
              </a:rPr>
              <a:t>Technical appendix</a:t>
            </a:r>
            <a:endParaRPr sz="7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12"/>
          <p:cNvSpPr txBox="1"/>
          <p:nvPr>
            <p:ph idx="4294967295" type="sldNum"/>
          </p:nvPr>
        </p:nvSpPr>
        <p:spPr>
          <a:xfrm>
            <a:off x="11475720" y="6446520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>
              <a:solidFill>
                <a:srgbClr val="6B728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3"/>
          <p:cNvSpPr/>
          <p:nvPr/>
        </p:nvSpPr>
        <p:spPr>
          <a:xfrm>
            <a:off x="502920" y="384048"/>
            <a:ext cx="69494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3A6D"/>
              </a:buClr>
              <a:buSzPts val="2700"/>
              <a:buFont typeface="Play"/>
              <a:buNone/>
            </a:pPr>
            <a:r>
              <a:rPr b="1" lang="en-US" sz="2700">
                <a:solidFill>
                  <a:srgbClr val="1D3A6D"/>
                </a:solidFill>
                <a:latin typeface="Play"/>
                <a:ea typeface="Play"/>
                <a:cs typeface="Play"/>
                <a:sym typeface="Play"/>
              </a:rPr>
              <a:t>Embedded controller upgrade path</a:t>
            </a:r>
            <a:endParaRPr sz="2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13"/>
          <p:cNvSpPr/>
          <p:nvPr/>
        </p:nvSpPr>
        <p:spPr>
          <a:xfrm>
            <a:off x="530352" y="786384"/>
            <a:ext cx="8046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150"/>
              <a:buFont typeface="Arial"/>
              <a:buNone/>
            </a:pPr>
            <a:r>
              <a:rPr lang="en-US" sz="1150">
                <a:solidFill>
                  <a:srgbClr val="5B6472"/>
                </a:solidFill>
                <a:latin typeface="Arial"/>
                <a:ea typeface="Arial"/>
                <a:cs typeface="Arial"/>
                <a:sym typeface="Arial"/>
              </a:rPr>
              <a:t>Modern controller, same hard-wired reliability principle</a:t>
            </a:r>
            <a:endParaRPr sz="1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13"/>
          <p:cNvSpPr/>
          <p:nvPr/>
        </p:nvSpPr>
        <p:spPr>
          <a:xfrm>
            <a:off x="9674352" y="438912"/>
            <a:ext cx="1920240" cy="329184"/>
          </a:xfrm>
          <a:prstGeom prst="roundRect">
            <a:avLst>
              <a:gd fmla="val 22222" name="adj"/>
            </a:avLst>
          </a:prstGeom>
          <a:solidFill>
            <a:srgbClr val="DCEAFE"/>
          </a:solidFill>
          <a:ln cap="flat" cmpd="sng" w="12700">
            <a:solidFill>
              <a:srgbClr val="DCEA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13"/>
          <p:cNvSpPr/>
          <p:nvPr/>
        </p:nvSpPr>
        <p:spPr>
          <a:xfrm>
            <a:off x="9829800" y="521208"/>
            <a:ext cx="1645920" cy="1188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3A6D"/>
              </a:buClr>
              <a:buSzPts val="850"/>
              <a:buFont typeface="Arial"/>
              <a:buNone/>
            </a:pPr>
            <a:r>
              <a:rPr b="1" lang="en-US" sz="850">
                <a:solidFill>
                  <a:srgbClr val="1D3A6D"/>
                </a:solidFill>
                <a:latin typeface="Arial"/>
                <a:ea typeface="Arial"/>
                <a:cs typeface="Arial"/>
                <a:sym typeface="Arial"/>
              </a:rPr>
              <a:t>APPENDIX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old_deck_imgs/p16-16.png" id="220" name="Google Shape;220;p13"/>
          <p:cNvPicPr preferRelativeResize="0"/>
          <p:nvPr/>
        </p:nvPicPr>
        <p:blipFill rotWithShape="1">
          <a:blip r:embed="rId3">
            <a:alphaModFix/>
          </a:blip>
          <a:srcRect b="0" l="13556" r="13556" t="0"/>
          <a:stretch/>
        </p:blipFill>
        <p:spPr>
          <a:xfrm>
            <a:off x="685800" y="1234440"/>
            <a:ext cx="4206240" cy="3246120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13"/>
          <p:cNvSpPr/>
          <p:nvPr/>
        </p:nvSpPr>
        <p:spPr>
          <a:xfrm>
            <a:off x="731520" y="4617720"/>
            <a:ext cx="42062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3A6D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1D3A6D"/>
                </a:solidFill>
                <a:latin typeface="Arial"/>
                <a:ea typeface="Arial"/>
                <a:cs typeface="Arial"/>
                <a:sym typeface="Arial"/>
              </a:rPr>
              <a:t>2015 controller path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13"/>
          <p:cNvSpPr/>
          <p:nvPr/>
        </p:nvSpPr>
        <p:spPr>
          <a:xfrm>
            <a:off x="868680" y="4892040"/>
            <a:ext cx="37490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Arduino Mega-era design</a:t>
            </a:r>
            <a:endParaRPr sz="12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Legacy Ethernet stack</a:t>
            </a:r>
            <a:endParaRPr sz="12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Field-proven but aging</a:t>
            </a:r>
            <a:endParaRPr sz="12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13"/>
          <p:cNvSpPr/>
          <p:nvPr/>
        </p:nvSpPr>
        <p:spPr>
          <a:xfrm>
            <a:off x="5330952" y="2779776"/>
            <a:ext cx="1051560" cy="457200"/>
          </a:xfrm>
          <a:prstGeom prst="chevron">
            <a:avLst>
              <a:gd fmla="val 50000" name="adj"/>
            </a:avLst>
          </a:prstGeom>
          <a:solidFill>
            <a:srgbClr val="E5B93C"/>
          </a:solidFill>
          <a:ln cap="flat" cmpd="sng" w="12700">
            <a:solidFill>
              <a:srgbClr val="E5B9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13"/>
          <p:cNvSpPr/>
          <p:nvPr/>
        </p:nvSpPr>
        <p:spPr>
          <a:xfrm>
            <a:off x="6629400" y="1234440"/>
            <a:ext cx="4434840" cy="4526280"/>
          </a:xfrm>
          <a:prstGeom prst="roundRect">
            <a:avLst>
              <a:gd fmla="val 2474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13"/>
          <p:cNvSpPr/>
          <p:nvPr/>
        </p:nvSpPr>
        <p:spPr>
          <a:xfrm>
            <a:off x="6903720" y="1554480"/>
            <a:ext cx="3886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3A6D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1D3A6D"/>
                </a:solidFill>
                <a:latin typeface="Arial"/>
                <a:ea typeface="Arial"/>
                <a:cs typeface="Arial"/>
                <a:sym typeface="Arial"/>
              </a:rPr>
              <a:t>2026 replacement path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13"/>
          <p:cNvSpPr/>
          <p:nvPr/>
        </p:nvSpPr>
        <p:spPr>
          <a:xfrm>
            <a:off x="7086600" y="2057400"/>
            <a:ext cx="3612000" cy="3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-3365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700"/>
              <a:buChar char="❏"/>
            </a:pPr>
            <a:r>
              <a:rPr lang="en-US" sz="1700">
                <a:solidFill>
                  <a:srgbClr val="1F2937"/>
                </a:solidFill>
              </a:rPr>
              <a:t>Ubuntu server LTS</a:t>
            </a:r>
            <a:endParaRPr sz="1700">
              <a:solidFill>
                <a:srgbClr val="1F2937"/>
              </a:solidFill>
            </a:endParaRPr>
          </a:p>
          <a:p>
            <a:pPr indent="-3365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700"/>
              <a:buFont typeface="Arial"/>
              <a:buChar char="❏"/>
            </a:pPr>
            <a:r>
              <a:rPr lang="en-US" sz="17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Arduino </a:t>
            </a:r>
            <a:r>
              <a:rPr lang="en-US" sz="1700">
                <a:solidFill>
                  <a:srgbClr val="1F2937"/>
                </a:solidFill>
              </a:rPr>
              <a:t>UNO</a:t>
            </a:r>
            <a:r>
              <a:rPr lang="en-US" sz="17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 R4 Minima</a:t>
            </a:r>
            <a:r>
              <a:rPr lang="en-US" sz="1700">
                <a:solidFill>
                  <a:srgbClr val="1F2937"/>
                </a:solidFill>
              </a:rPr>
              <a:t> -- </a:t>
            </a:r>
            <a:r>
              <a:rPr lang="en-US" sz="17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modern, 32-bit ARM controller</a:t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700"/>
              <a:buFont typeface="Arial"/>
              <a:buChar char="❏"/>
            </a:pPr>
            <a:r>
              <a:rPr lang="en-US" sz="17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Roughly an order-of-magnitude more capable platform</a:t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700"/>
              <a:buChar char="❏"/>
            </a:pPr>
            <a:r>
              <a:rPr lang="en-US" sz="17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New Ethernet hardware and </a:t>
            </a:r>
            <a:r>
              <a:rPr lang="en-US" sz="1700">
                <a:solidFill>
                  <a:srgbClr val="1F2937"/>
                </a:solidFill>
              </a:rPr>
              <a:t>improved</a:t>
            </a:r>
            <a:r>
              <a:rPr lang="en-US" sz="17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 connection behavior</a:t>
            </a:r>
            <a:endParaRPr sz="1700">
              <a:solidFill>
                <a:srgbClr val="1F293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700"/>
              <a:buChar char="❏"/>
            </a:pPr>
            <a:r>
              <a:rPr lang="en-US" sz="1700">
                <a:solidFill>
                  <a:srgbClr val="1F2937"/>
                </a:solidFill>
              </a:rPr>
              <a:t>New pixel interface shield and case</a:t>
            </a:r>
            <a:endParaRPr sz="1700">
              <a:solidFill>
                <a:srgbClr val="1F2937"/>
              </a:solidFill>
            </a:endParaRPr>
          </a:p>
          <a:p>
            <a:pPr indent="-3365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700"/>
              <a:buChar char="❏"/>
            </a:pPr>
            <a:r>
              <a:rPr lang="en-US" sz="1700">
                <a:solidFill>
                  <a:srgbClr val="1F2937"/>
                </a:solidFill>
              </a:rPr>
              <a:t>Exact same “PIXEL” board interface</a:t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13"/>
          <p:cNvSpPr/>
          <p:nvPr/>
        </p:nvSpPr>
        <p:spPr>
          <a:xfrm>
            <a:off x="502920" y="6473952"/>
            <a:ext cx="82296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750"/>
              <a:buFont typeface="Arial"/>
              <a:buNone/>
            </a:pPr>
            <a:r>
              <a:rPr lang="en-US" sz="750">
                <a:solidFill>
                  <a:srgbClr val="5B6472"/>
                </a:solidFill>
                <a:latin typeface="Arial"/>
                <a:ea typeface="Arial"/>
                <a:cs typeface="Arial"/>
                <a:sym typeface="Arial"/>
              </a:rPr>
              <a:t>Technical appendix</a:t>
            </a:r>
            <a:endParaRPr sz="7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13"/>
          <p:cNvSpPr txBox="1"/>
          <p:nvPr>
            <p:ph idx="4294967295" type="sldNum"/>
          </p:nvPr>
        </p:nvSpPr>
        <p:spPr>
          <a:xfrm>
            <a:off x="11475720" y="6446520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>
              <a:solidFill>
                <a:srgbClr val="6B728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4"/>
          <p:cNvSpPr/>
          <p:nvPr/>
        </p:nvSpPr>
        <p:spPr>
          <a:xfrm>
            <a:off x="502920" y="384048"/>
            <a:ext cx="69494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3A6D"/>
              </a:buClr>
              <a:buSzPts val="2700"/>
              <a:buFont typeface="Play"/>
              <a:buNone/>
            </a:pPr>
            <a:r>
              <a:rPr b="1" lang="en-US" sz="2700">
                <a:solidFill>
                  <a:srgbClr val="1D3A6D"/>
                </a:solidFill>
                <a:latin typeface="Play"/>
                <a:ea typeface="Play"/>
                <a:cs typeface="Play"/>
                <a:sym typeface="Play"/>
              </a:rPr>
              <a:t>Replacement appliance path</a:t>
            </a:r>
            <a:endParaRPr sz="2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14"/>
          <p:cNvSpPr/>
          <p:nvPr/>
        </p:nvSpPr>
        <p:spPr>
          <a:xfrm>
            <a:off x="530352" y="786384"/>
            <a:ext cx="8046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150"/>
              <a:buFont typeface="Arial"/>
              <a:buNone/>
            </a:pPr>
            <a:r>
              <a:rPr lang="en-US" sz="1150">
                <a:solidFill>
                  <a:srgbClr val="5B6472"/>
                </a:solidFill>
                <a:latin typeface="Arial"/>
                <a:ea typeface="Arial"/>
                <a:cs typeface="Arial"/>
                <a:sym typeface="Arial"/>
              </a:rPr>
              <a:t>Fresh, documented, repeatable</a:t>
            </a:r>
            <a:endParaRPr sz="1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14"/>
          <p:cNvSpPr/>
          <p:nvPr/>
        </p:nvSpPr>
        <p:spPr>
          <a:xfrm>
            <a:off x="9674352" y="438912"/>
            <a:ext cx="1920240" cy="329184"/>
          </a:xfrm>
          <a:prstGeom prst="roundRect">
            <a:avLst>
              <a:gd fmla="val 22222" name="adj"/>
            </a:avLst>
          </a:prstGeom>
          <a:solidFill>
            <a:srgbClr val="DCEAFE"/>
          </a:solidFill>
          <a:ln cap="flat" cmpd="sng" w="12700">
            <a:solidFill>
              <a:srgbClr val="DCEA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14"/>
          <p:cNvSpPr/>
          <p:nvPr/>
        </p:nvSpPr>
        <p:spPr>
          <a:xfrm>
            <a:off x="9829800" y="521208"/>
            <a:ext cx="1645920" cy="1188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3A6D"/>
              </a:buClr>
              <a:buSzPts val="850"/>
              <a:buFont typeface="Arial"/>
              <a:buNone/>
            </a:pPr>
            <a:r>
              <a:rPr b="1" lang="en-US" sz="850">
                <a:solidFill>
                  <a:srgbClr val="1D3A6D"/>
                </a:solidFill>
                <a:latin typeface="Arial"/>
                <a:ea typeface="Arial"/>
                <a:cs typeface="Arial"/>
                <a:sym typeface="Arial"/>
              </a:rPr>
              <a:t>APPENDIX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14"/>
          <p:cNvSpPr/>
          <p:nvPr/>
        </p:nvSpPr>
        <p:spPr>
          <a:xfrm>
            <a:off x="777240" y="1234440"/>
            <a:ext cx="5029200" cy="4297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-3619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100"/>
              <a:buFont typeface="Arial"/>
              <a:buChar char="❏"/>
            </a:pPr>
            <a:r>
              <a:rPr lang="en-US" sz="21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Fresh Ubuntu NUC appliance instead of an aging Mac Mini</a:t>
            </a:r>
            <a:endParaRPr sz="2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19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100"/>
              <a:buFont typeface="Arial"/>
              <a:buChar char="❏"/>
            </a:pPr>
            <a:r>
              <a:rPr lang="en-US" sz="21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Apache + PHP runtime with documented installer</a:t>
            </a:r>
            <a:endParaRPr sz="2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19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100"/>
              <a:buFont typeface="Arial"/>
              <a:buChar char="❏"/>
            </a:pPr>
            <a:r>
              <a:rPr lang="en-US" sz="21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Public source repository and project instructions</a:t>
            </a:r>
            <a:endParaRPr sz="2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19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100"/>
              <a:buFont typeface="Arial"/>
              <a:buChar char="❏"/>
            </a:pPr>
            <a:r>
              <a:rPr lang="en-US" sz="21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No live controller transmission during install tests</a:t>
            </a:r>
            <a:endParaRPr sz="2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19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100"/>
              <a:buFont typeface="Arial"/>
              <a:buChar char="❏"/>
            </a:pPr>
            <a:r>
              <a:rPr lang="en-US" sz="21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Cron phases documented rather than hidden</a:t>
            </a:r>
            <a:endParaRPr sz="2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IMG_1634.jpeg" id="239" name="Google Shape;239;p14"/>
          <p:cNvPicPr preferRelativeResize="0"/>
          <p:nvPr/>
        </p:nvPicPr>
        <p:blipFill rotWithShape="1">
          <a:blip r:embed="rId3">
            <a:alphaModFix/>
          </a:blip>
          <a:srcRect b="14134" l="0" r="0" t="14134"/>
          <a:stretch/>
        </p:blipFill>
        <p:spPr>
          <a:xfrm>
            <a:off x="6400800" y="1115568"/>
            <a:ext cx="4617720" cy="4416552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14"/>
          <p:cNvSpPr/>
          <p:nvPr/>
        </p:nvSpPr>
        <p:spPr>
          <a:xfrm>
            <a:off x="6629400" y="5687568"/>
            <a:ext cx="42976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150"/>
              <a:buFont typeface="Arial"/>
              <a:buNone/>
            </a:pPr>
            <a:r>
              <a:rPr lang="en-US" sz="1150">
                <a:solidFill>
                  <a:srgbClr val="5B6472"/>
                </a:solidFill>
                <a:latin typeface="Arial"/>
                <a:ea typeface="Arial"/>
                <a:cs typeface="Arial"/>
                <a:sym typeface="Arial"/>
              </a:rPr>
              <a:t>Example: fresh NUC booted to Ubuntu with SSH enabled</a:t>
            </a:r>
            <a:endParaRPr sz="1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14"/>
          <p:cNvSpPr/>
          <p:nvPr/>
        </p:nvSpPr>
        <p:spPr>
          <a:xfrm>
            <a:off x="502920" y="6473952"/>
            <a:ext cx="82296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750"/>
              <a:buFont typeface="Arial"/>
              <a:buNone/>
            </a:pPr>
            <a:r>
              <a:rPr lang="en-US" sz="750">
                <a:solidFill>
                  <a:srgbClr val="5B6472"/>
                </a:solidFill>
                <a:latin typeface="Arial"/>
                <a:ea typeface="Arial"/>
                <a:cs typeface="Arial"/>
                <a:sym typeface="Arial"/>
              </a:rPr>
              <a:t>Technical appendix</a:t>
            </a:r>
            <a:endParaRPr sz="7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14"/>
          <p:cNvSpPr txBox="1"/>
          <p:nvPr>
            <p:ph idx="4294967295" type="sldNum"/>
          </p:nvPr>
        </p:nvSpPr>
        <p:spPr>
          <a:xfrm>
            <a:off x="11475720" y="6446520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>
              <a:solidFill>
                <a:srgbClr val="6B728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5"/>
          <p:cNvSpPr/>
          <p:nvPr/>
        </p:nvSpPr>
        <p:spPr>
          <a:xfrm>
            <a:off x="502920" y="384048"/>
            <a:ext cx="69494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3A6D"/>
              </a:buClr>
              <a:buSzPts val="2700"/>
              <a:buFont typeface="Play"/>
              <a:buNone/>
            </a:pPr>
            <a:r>
              <a:rPr b="1" lang="en-US" sz="2700">
                <a:solidFill>
                  <a:srgbClr val="1D3A6D"/>
                </a:solidFill>
                <a:latin typeface="Play"/>
                <a:ea typeface="Play"/>
                <a:cs typeface="Play"/>
                <a:sym typeface="Play"/>
              </a:rPr>
              <a:t>UI screen tour</a:t>
            </a:r>
            <a:endParaRPr sz="2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15"/>
          <p:cNvSpPr/>
          <p:nvPr/>
        </p:nvSpPr>
        <p:spPr>
          <a:xfrm>
            <a:off x="530352" y="786384"/>
            <a:ext cx="8046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150"/>
              <a:buFont typeface="Arial"/>
              <a:buNone/>
            </a:pPr>
            <a:r>
              <a:rPr lang="en-US" sz="1150">
                <a:solidFill>
                  <a:srgbClr val="5B6472"/>
                </a:solidFill>
                <a:latin typeface="Arial"/>
                <a:ea typeface="Arial"/>
                <a:cs typeface="Arial"/>
                <a:sym typeface="Arial"/>
              </a:rPr>
              <a:t>Cleaner screens make the system easier to operate and maintain</a:t>
            </a:r>
            <a:endParaRPr sz="1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15"/>
          <p:cNvSpPr/>
          <p:nvPr/>
        </p:nvSpPr>
        <p:spPr>
          <a:xfrm>
            <a:off x="9674352" y="438912"/>
            <a:ext cx="1920240" cy="329184"/>
          </a:xfrm>
          <a:prstGeom prst="roundRect">
            <a:avLst>
              <a:gd fmla="val 22222" name="adj"/>
            </a:avLst>
          </a:prstGeom>
          <a:solidFill>
            <a:srgbClr val="DCEAFE"/>
          </a:solidFill>
          <a:ln cap="flat" cmpd="sng" w="12700">
            <a:solidFill>
              <a:srgbClr val="DCEA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15"/>
          <p:cNvSpPr/>
          <p:nvPr/>
        </p:nvSpPr>
        <p:spPr>
          <a:xfrm>
            <a:off x="9829800" y="521208"/>
            <a:ext cx="1645920" cy="1188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3A6D"/>
              </a:buClr>
              <a:buSzPts val="850"/>
              <a:buFont typeface="Arial"/>
              <a:buNone/>
            </a:pPr>
            <a:r>
              <a:rPr b="1" lang="en-US" sz="850">
                <a:solidFill>
                  <a:srgbClr val="1D3A6D"/>
                </a:solidFill>
                <a:latin typeface="Arial"/>
                <a:ea typeface="Arial"/>
                <a:cs typeface="Arial"/>
                <a:sym typeface="Arial"/>
              </a:rPr>
              <a:t>APPENDIX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yahrzeit_screens/Screenshot 0yahrzeit.png" id="252" name="Google Shape;252;p15"/>
          <p:cNvPicPr preferRelativeResize="0"/>
          <p:nvPr/>
        </p:nvPicPr>
        <p:blipFill rotWithShape="1">
          <a:blip r:embed="rId3">
            <a:alphaModFix/>
          </a:blip>
          <a:srcRect b="0" l="11294" r="11294" t="0"/>
          <a:stretch/>
        </p:blipFill>
        <p:spPr>
          <a:xfrm>
            <a:off x="594360" y="1143000"/>
            <a:ext cx="3383280" cy="2926080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15"/>
          <p:cNvSpPr/>
          <p:nvPr/>
        </p:nvSpPr>
        <p:spPr>
          <a:xfrm>
            <a:off x="594360" y="4224528"/>
            <a:ext cx="3383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3A6D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1D3A6D"/>
                </a:solidFill>
                <a:latin typeface="Arial"/>
                <a:ea typeface="Arial"/>
                <a:cs typeface="Arial"/>
                <a:sym typeface="Arial"/>
              </a:rPr>
              <a:t>Dashboard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yahrzeit_screens/Screenshot 4viewnames.png" id="254" name="Google Shape;254;p15"/>
          <p:cNvPicPr preferRelativeResize="0"/>
          <p:nvPr/>
        </p:nvPicPr>
        <p:blipFill rotWithShape="1">
          <a:blip r:embed="rId4">
            <a:alphaModFix/>
          </a:blip>
          <a:srcRect b="1432" l="0" r="0" t="1432"/>
          <a:stretch/>
        </p:blipFill>
        <p:spPr>
          <a:xfrm>
            <a:off x="4251960" y="1143000"/>
            <a:ext cx="3383280" cy="2926080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15"/>
          <p:cNvSpPr/>
          <p:nvPr/>
        </p:nvSpPr>
        <p:spPr>
          <a:xfrm>
            <a:off x="4251960" y="4224528"/>
            <a:ext cx="3383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3A6D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1D3A6D"/>
                </a:solidFill>
                <a:latin typeface="Arial"/>
                <a:ea typeface="Arial"/>
                <a:cs typeface="Arial"/>
                <a:sym typeface="Arial"/>
              </a:rPr>
              <a:t>Names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yahrzeit_screens/Screenshot 7minhag.png" id="256" name="Google Shape;256;p15"/>
          <p:cNvPicPr preferRelativeResize="0"/>
          <p:nvPr/>
        </p:nvPicPr>
        <p:blipFill rotWithShape="1">
          <a:blip r:embed="rId5">
            <a:alphaModFix/>
          </a:blip>
          <a:srcRect b="0" l="6338" r="6338" t="0"/>
          <a:stretch/>
        </p:blipFill>
        <p:spPr>
          <a:xfrm>
            <a:off x="7909560" y="1143000"/>
            <a:ext cx="3383280" cy="2926080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15"/>
          <p:cNvSpPr/>
          <p:nvPr/>
        </p:nvSpPr>
        <p:spPr>
          <a:xfrm>
            <a:off x="7909560" y="4224528"/>
            <a:ext cx="3383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3A6D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1D3A6D"/>
                </a:solidFill>
                <a:latin typeface="Arial"/>
                <a:ea typeface="Arial"/>
                <a:cs typeface="Arial"/>
                <a:sym typeface="Arial"/>
              </a:rPr>
              <a:t>Minhag policy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15"/>
          <p:cNvSpPr/>
          <p:nvPr/>
        </p:nvSpPr>
        <p:spPr>
          <a:xfrm>
            <a:off x="1097280" y="4892040"/>
            <a:ext cx="987552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5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Dashboard: current policy and calculated lit count</a:t>
            </a:r>
            <a:endParaRPr sz="15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5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Names: searchable, read-only memorial database view</a:t>
            </a:r>
            <a:endParaRPr sz="15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5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Minhag: documented ritual policy settings</a:t>
            </a:r>
            <a:endParaRPr sz="15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15"/>
          <p:cNvSpPr/>
          <p:nvPr/>
        </p:nvSpPr>
        <p:spPr>
          <a:xfrm>
            <a:off x="502920" y="6473952"/>
            <a:ext cx="82296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750"/>
              <a:buFont typeface="Arial"/>
              <a:buNone/>
            </a:pPr>
            <a:r>
              <a:rPr lang="en-US" sz="750">
                <a:solidFill>
                  <a:srgbClr val="5B6472"/>
                </a:solidFill>
                <a:latin typeface="Arial"/>
                <a:ea typeface="Arial"/>
                <a:cs typeface="Arial"/>
                <a:sym typeface="Arial"/>
              </a:rPr>
              <a:t>Technical appendix</a:t>
            </a:r>
            <a:endParaRPr sz="7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15"/>
          <p:cNvSpPr txBox="1"/>
          <p:nvPr>
            <p:ph idx="4294967295" type="sldNum"/>
          </p:nvPr>
        </p:nvSpPr>
        <p:spPr>
          <a:xfrm>
            <a:off x="11475720" y="6446520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>
              <a:solidFill>
                <a:srgbClr val="6B728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6"/>
          <p:cNvSpPr/>
          <p:nvPr/>
        </p:nvSpPr>
        <p:spPr>
          <a:xfrm>
            <a:off x="502920" y="384048"/>
            <a:ext cx="69494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3A6D"/>
              </a:buClr>
              <a:buSzPts val="2700"/>
              <a:buFont typeface="Play"/>
              <a:buNone/>
            </a:pPr>
            <a:r>
              <a:rPr b="1" lang="en-US" sz="2700">
                <a:solidFill>
                  <a:srgbClr val="1D3A6D"/>
                </a:solidFill>
                <a:latin typeface="Play"/>
                <a:ea typeface="Play"/>
                <a:cs typeface="Play"/>
                <a:sym typeface="Play"/>
              </a:rPr>
              <a:t>Reports and scheduling</a:t>
            </a:r>
            <a:endParaRPr sz="2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16"/>
          <p:cNvSpPr/>
          <p:nvPr/>
        </p:nvSpPr>
        <p:spPr>
          <a:xfrm>
            <a:off x="530352" y="786384"/>
            <a:ext cx="8046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150"/>
              <a:buFont typeface="Arial"/>
              <a:buNone/>
            </a:pPr>
            <a:r>
              <a:rPr lang="en-US" sz="1150">
                <a:solidFill>
                  <a:srgbClr val="5B6472"/>
                </a:solidFill>
                <a:latin typeface="Arial"/>
                <a:ea typeface="Arial"/>
                <a:cs typeface="Arial"/>
                <a:sym typeface="Arial"/>
              </a:rPr>
              <a:t>Verify behavior before touching hardware</a:t>
            </a:r>
            <a:endParaRPr sz="1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16"/>
          <p:cNvSpPr/>
          <p:nvPr/>
        </p:nvSpPr>
        <p:spPr>
          <a:xfrm>
            <a:off x="9674352" y="438912"/>
            <a:ext cx="1920240" cy="329184"/>
          </a:xfrm>
          <a:prstGeom prst="roundRect">
            <a:avLst>
              <a:gd fmla="val 22222" name="adj"/>
            </a:avLst>
          </a:prstGeom>
          <a:solidFill>
            <a:srgbClr val="DCEAFE"/>
          </a:solidFill>
          <a:ln cap="flat" cmpd="sng" w="12700">
            <a:solidFill>
              <a:srgbClr val="DCEA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16"/>
          <p:cNvSpPr/>
          <p:nvPr/>
        </p:nvSpPr>
        <p:spPr>
          <a:xfrm>
            <a:off x="9829800" y="521208"/>
            <a:ext cx="1645920" cy="1188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3A6D"/>
              </a:buClr>
              <a:buSzPts val="850"/>
              <a:buFont typeface="Arial"/>
              <a:buNone/>
            </a:pPr>
            <a:r>
              <a:rPr b="1" lang="en-US" sz="850">
                <a:solidFill>
                  <a:srgbClr val="1D3A6D"/>
                </a:solidFill>
                <a:latin typeface="Arial"/>
                <a:ea typeface="Arial"/>
                <a:cs typeface="Arial"/>
                <a:sym typeface="Arial"/>
              </a:rPr>
              <a:t>APPENDIX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yahrzeit_screens/Screenshot 6reports.png" id="270" name="Google Shape;270;p16"/>
          <p:cNvPicPr preferRelativeResize="0"/>
          <p:nvPr/>
        </p:nvPicPr>
        <p:blipFill rotWithShape="1">
          <a:blip r:embed="rId3">
            <a:alphaModFix/>
          </a:blip>
          <a:srcRect b="7293" l="0" r="0" t="7293"/>
          <a:stretch/>
        </p:blipFill>
        <p:spPr>
          <a:xfrm>
            <a:off x="640080" y="1143000"/>
            <a:ext cx="5120640" cy="35661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mnt/data/yahrzeit_screens/Screenshot 6reports, NEXT WEEK.png" id="271" name="Google Shape;271;p16"/>
          <p:cNvPicPr preferRelativeResize="0"/>
          <p:nvPr/>
        </p:nvPicPr>
        <p:blipFill rotWithShape="1">
          <a:blip r:embed="rId4">
            <a:alphaModFix/>
          </a:blip>
          <a:srcRect b="2839" l="0" r="0" t="2839"/>
          <a:stretch/>
        </p:blipFill>
        <p:spPr>
          <a:xfrm>
            <a:off x="6355080" y="1143000"/>
            <a:ext cx="5120640" cy="3566160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16"/>
          <p:cNvSpPr/>
          <p:nvPr/>
        </p:nvSpPr>
        <p:spPr>
          <a:xfrm>
            <a:off x="914400" y="4892040"/>
            <a:ext cx="1024128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-327025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550"/>
              <a:buFont typeface="Arial"/>
              <a:buChar char="❏"/>
            </a:pPr>
            <a:r>
              <a:rPr lang="en-US" sz="155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Reports show today, this week, next week, Yizkor, audits, and command previews</a:t>
            </a:r>
            <a:endParaRPr sz="15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7025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550"/>
              <a:buFont typeface="Arial"/>
              <a:buChar char="❏"/>
            </a:pPr>
            <a:r>
              <a:rPr lang="en-US" sz="155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Scheduler model remains simple: cron invokes short phases; no daemon or long sleeps</a:t>
            </a:r>
            <a:endParaRPr sz="15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7025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550"/>
              <a:buFont typeface="Arial"/>
              <a:buChar char="❏"/>
            </a:pPr>
            <a:r>
              <a:rPr lang="en-US" sz="155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Yizkor policy is explicit and testable inside the app</a:t>
            </a:r>
            <a:endParaRPr sz="15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16"/>
          <p:cNvSpPr/>
          <p:nvPr/>
        </p:nvSpPr>
        <p:spPr>
          <a:xfrm>
            <a:off x="502920" y="6473952"/>
            <a:ext cx="82296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750"/>
              <a:buFont typeface="Arial"/>
              <a:buNone/>
            </a:pPr>
            <a:r>
              <a:rPr lang="en-US" sz="750">
                <a:solidFill>
                  <a:srgbClr val="5B6472"/>
                </a:solidFill>
                <a:latin typeface="Arial"/>
                <a:ea typeface="Arial"/>
                <a:cs typeface="Arial"/>
                <a:sym typeface="Arial"/>
              </a:rPr>
              <a:t>Technical appendix</a:t>
            </a:r>
            <a:endParaRPr sz="7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16"/>
          <p:cNvSpPr txBox="1"/>
          <p:nvPr>
            <p:ph idx="4294967295" type="sldNum"/>
          </p:nvPr>
        </p:nvSpPr>
        <p:spPr>
          <a:xfrm>
            <a:off x="11475720" y="6446520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>
              <a:solidFill>
                <a:srgbClr val="6B728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7"/>
          <p:cNvSpPr/>
          <p:nvPr/>
        </p:nvSpPr>
        <p:spPr>
          <a:xfrm>
            <a:off x="502920" y="384048"/>
            <a:ext cx="69494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3A6D"/>
              </a:buClr>
              <a:buSzPts val="2700"/>
              <a:buFont typeface="Play"/>
              <a:buNone/>
            </a:pPr>
            <a:r>
              <a:rPr b="1" lang="en-US" sz="2700">
                <a:solidFill>
                  <a:srgbClr val="1D3A6D"/>
                </a:solidFill>
                <a:latin typeface="Play"/>
                <a:ea typeface="Play"/>
                <a:cs typeface="Play"/>
                <a:sym typeface="Play"/>
              </a:rPr>
              <a:t>Safer memorial database maintenance</a:t>
            </a:r>
            <a:endParaRPr sz="2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17"/>
          <p:cNvSpPr/>
          <p:nvPr/>
        </p:nvSpPr>
        <p:spPr>
          <a:xfrm>
            <a:off x="530352" y="786384"/>
            <a:ext cx="8046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150"/>
              <a:buFont typeface="Arial"/>
              <a:buNone/>
            </a:pPr>
            <a:r>
              <a:rPr lang="en-US" sz="1150">
                <a:solidFill>
                  <a:srgbClr val="5B6472"/>
                </a:solidFill>
                <a:latin typeface="Arial"/>
                <a:ea typeface="Arial"/>
                <a:cs typeface="Arial"/>
                <a:sym typeface="Arial"/>
              </a:rPr>
              <a:t>Single-record changes without rewriting the whole CSV</a:t>
            </a:r>
            <a:endParaRPr sz="1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17"/>
          <p:cNvSpPr/>
          <p:nvPr/>
        </p:nvSpPr>
        <p:spPr>
          <a:xfrm>
            <a:off x="9674352" y="438912"/>
            <a:ext cx="1920240" cy="329184"/>
          </a:xfrm>
          <a:prstGeom prst="roundRect">
            <a:avLst>
              <a:gd fmla="val 22222" name="adj"/>
            </a:avLst>
          </a:prstGeom>
          <a:solidFill>
            <a:srgbClr val="DCEAFE"/>
          </a:solidFill>
          <a:ln cap="flat" cmpd="sng" w="12700">
            <a:solidFill>
              <a:srgbClr val="DCEA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17"/>
          <p:cNvSpPr/>
          <p:nvPr/>
        </p:nvSpPr>
        <p:spPr>
          <a:xfrm>
            <a:off x="9829800" y="521208"/>
            <a:ext cx="1645920" cy="1188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3A6D"/>
              </a:buClr>
              <a:buSzPts val="850"/>
              <a:buFont typeface="Arial"/>
              <a:buNone/>
            </a:pPr>
            <a:r>
              <a:rPr b="1" lang="en-US" sz="850">
                <a:solidFill>
                  <a:srgbClr val="1D3A6D"/>
                </a:solidFill>
                <a:latin typeface="Arial"/>
                <a:ea typeface="Arial"/>
                <a:cs typeface="Arial"/>
                <a:sym typeface="Arial"/>
              </a:rPr>
              <a:t>APPENDIX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yahrzeit_screens/Screenshot 5singlename.png" id="284" name="Google Shape;284;p17"/>
          <p:cNvPicPr preferRelativeResize="0"/>
          <p:nvPr/>
        </p:nvPicPr>
        <p:blipFill rotWithShape="1">
          <a:blip r:embed="rId3">
            <a:alphaModFix/>
          </a:blip>
          <a:srcRect b="0" l="5126" r="5126" t="0"/>
          <a:stretch/>
        </p:blipFill>
        <p:spPr>
          <a:xfrm>
            <a:off x="640080" y="1124712"/>
            <a:ext cx="5303520" cy="3931920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17"/>
          <p:cNvSpPr/>
          <p:nvPr/>
        </p:nvSpPr>
        <p:spPr>
          <a:xfrm>
            <a:off x="6492240" y="1188720"/>
            <a:ext cx="4754880" cy="4023360"/>
          </a:xfrm>
          <a:prstGeom prst="roundRect">
            <a:avLst>
              <a:gd fmla="val 2727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17"/>
          <p:cNvSpPr/>
          <p:nvPr/>
        </p:nvSpPr>
        <p:spPr>
          <a:xfrm>
            <a:off x="6564651" y="1623075"/>
            <a:ext cx="4522800" cy="314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-3429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00"/>
              <a:buFont typeface="Arial"/>
              <a:buChar char="❏"/>
            </a:pPr>
            <a:r>
              <a:rPr lang="en-US" sz="18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Edit path is intended for correction, especially date-of-death issues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00"/>
              <a:buFont typeface="Arial"/>
              <a:buChar char="❏"/>
            </a:pPr>
            <a:r>
              <a:rPr lang="en-US" sz="18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Only one physical CSV line is replaced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00"/>
              <a:buFont typeface="Arial"/>
              <a:buChar char="❏"/>
            </a:pPr>
            <a:r>
              <a:rPr lang="en-US" sz="18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Original line identity is checked before save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00"/>
              <a:buFont typeface="Arial"/>
              <a:buChar char="❏"/>
            </a:pPr>
            <a:r>
              <a:rPr lang="en-US" sz="18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Backup/audit path reduces maintenance risk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17"/>
          <p:cNvSpPr/>
          <p:nvPr/>
        </p:nvSpPr>
        <p:spPr>
          <a:xfrm>
            <a:off x="502920" y="6473952"/>
            <a:ext cx="82296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750"/>
              <a:buFont typeface="Arial"/>
              <a:buNone/>
            </a:pPr>
            <a:r>
              <a:rPr lang="en-US" sz="750">
                <a:solidFill>
                  <a:srgbClr val="5B6472"/>
                </a:solidFill>
                <a:latin typeface="Arial"/>
                <a:ea typeface="Arial"/>
                <a:cs typeface="Arial"/>
                <a:sym typeface="Arial"/>
              </a:rPr>
              <a:t>Technical appendix</a:t>
            </a:r>
            <a:endParaRPr sz="7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17"/>
          <p:cNvSpPr txBox="1"/>
          <p:nvPr>
            <p:ph idx="4294967295" type="sldNum"/>
          </p:nvPr>
        </p:nvSpPr>
        <p:spPr>
          <a:xfrm>
            <a:off x="11475720" y="6446520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>
              <a:solidFill>
                <a:srgbClr val="6B728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18"/>
          <p:cNvSpPr/>
          <p:nvPr/>
        </p:nvSpPr>
        <p:spPr>
          <a:xfrm>
            <a:off x="502920" y="384048"/>
            <a:ext cx="69494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3A6D"/>
              </a:buClr>
              <a:buSzPts val="2700"/>
              <a:buFont typeface="Play"/>
              <a:buNone/>
            </a:pPr>
            <a:r>
              <a:rPr b="1" lang="en-US" sz="2700">
                <a:solidFill>
                  <a:srgbClr val="1D3A6D"/>
                </a:solidFill>
                <a:latin typeface="Play"/>
                <a:ea typeface="Play"/>
                <a:cs typeface="Play"/>
                <a:sym typeface="Play"/>
              </a:rPr>
              <a:t>Testing and rollback plan</a:t>
            </a:r>
            <a:endParaRPr sz="2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18"/>
          <p:cNvSpPr/>
          <p:nvPr/>
        </p:nvSpPr>
        <p:spPr>
          <a:xfrm>
            <a:off x="530352" y="786384"/>
            <a:ext cx="8046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150"/>
              <a:buFont typeface="Arial"/>
              <a:buNone/>
            </a:pPr>
            <a:r>
              <a:rPr lang="en-US" sz="1150">
                <a:solidFill>
                  <a:srgbClr val="5B6472"/>
                </a:solidFill>
                <a:latin typeface="Arial"/>
                <a:ea typeface="Arial"/>
                <a:cs typeface="Arial"/>
                <a:sym typeface="Arial"/>
              </a:rPr>
              <a:t>No live wall change until the replacement path is proven</a:t>
            </a:r>
            <a:endParaRPr sz="1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18"/>
          <p:cNvSpPr/>
          <p:nvPr/>
        </p:nvSpPr>
        <p:spPr>
          <a:xfrm>
            <a:off x="9674352" y="438912"/>
            <a:ext cx="1920240" cy="329184"/>
          </a:xfrm>
          <a:prstGeom prst="roundRect">
            <a:avLst>
              <a:gd fmla="val 22222" name="adj"/>
            </a:avLst>
          </a:prstGeom>
          <a:solidFill>
            <a:srgbClr val="DCEAFE"/>
          </a:solidFill>
          <a:ln cap="flat" cmpd="sng" w="12700">
            <a:solidFill>
              <a:srgbClr val="DCEA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18"/>
          <p:cNvSpPr/>
          <p:nvPr/>
        </p:nvSpPr>
        <p:spPr>
          <a:xfrm>
            <a:off x="9829800" y="521208"/>
            <a:ext cx="1645920" cy="1188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3A6D"/>
              </a:buClr>
              <a:buSzPts val="850"/>
              <a:buFont typeface="Arial"/>
              <a:buNone/>
            </a:pPr>
            <a:r>
              <a:rPr b="1" lang="en-US" sz="850">
                <a:solidFill>
                  <a:srgbClr val="1D3A6D"/>
                </a:solidFill>
                <a:latin typeface="Arial"/>
                <a:ea typeface="Arial"/>
                <a:cs typeface="Arial"/>
                <a:sym typeface="Arial"/>
              </a:rPr>
              <a:t>APPENDIX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IMG_1512.JPG" id="298" name="Google Shape;298;p18"/>
          <p:cNvPicPr preferRelativeResize="0"/>
          <p:nvPr/>
        </p:nvPicPr>
        <p:blipFill rotWithShape="1">
          <a:blip r:embed="rId3">
            <a:alphaModFix/>
          </a:blip>
          <a:srcRect b="0" l="3618" r="3618" t="0"/>
          <a:stretch/>
        </p:blipFill>
        <p:spPr>
          <a:xfrm>
            <a:off x="640080" y="1143000"/>
            <a:ext cx="4297680" cy="3474720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18"/>
          <p:cNvSpPr/>
          <p:nvPr/>
        </p:nvSpPr>
        <p:spPr>
          <a:xfrm>
            <a:off x="5715000" y="1280160"/>
            <a:ext cx="5303520" cy="3977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-3619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100"/>
              <a:buFont typeface="Arial"/>
              <a:buChar char="❏"/>
            </a:pPr>
            <a:r>
              <a:rPr lang="en-US" sz="21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Bench-test replacement controller and interface</a:t>
            </a:r>
            <a:endParaRPr sz="2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19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100"/>
              <a:buFont typeface="Arial"/>
              <a:buChar char="❏"/>
            </a:pPr>
            <a:r>
              <a:rPr lang="en-US" sz="21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Run non-transmit server tests (--dry-run) and command previews</a:t>
            </a:r>
            <a:endParaRPr sz="2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19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100"/>
              <a:buFont typeface="Arial"/>
              <a:buChar char="❏"/>
            </a:pPr>
            <a:r>
              <a:rPr lang="en-US" sz="21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Inspect current onsite server and wiring before cutover</a:t>
            </a:r>
            <a:endParaRPr sz="2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19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100"/>
              <a:buFont typeface="Arial"/>
              <a:buChar char="❏"/>
            </a:pPr>
            <a:r>
              <a:rPr lang="en-US" sz="21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Preserve current working system until replacement is validated</a:t>
            </a:r>
            <a:endParaRPr sz="2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19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100"/>
              <a:buFont typeface="Arial"/>
              <a:buChar char="❏"/>
            </a:pPr>
            <a:r>
              <a:rPr lang="en-US" sz="21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Maintain a cold-spare appliance/server</a:t>
            </a:r>
            <a:endParaRPr sz="2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p18"/>
          <p:cNvSpPr/>
          <p:nvPr/>
        </p:nvSpPr>
        <p:spPr>
          <a:xfrm>
            <a:off x="502920" y="6473952"/>
            <a:ext cx="82296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750"/>
              <a:buFont typeface="Arial"/>
              <a:buNone/>
            </a:pPr>
            <a:r>
              <a:rPr lang="en-US" sz="750">
                <a:solidFill>
                  <a:srgbClr val="5B6472"/>
                </a:solidFill>
                <a:latin typeface="Arial"/>
                <a:ea typeface="Arial"/>
                <a:cs typeface="Arial"/>
                <a:sym typeface="Arial"/>
              </a:rPr>
              <a:t>Technical appendix</a:t>
            </a:r>
            <a:endParaRPr sz="7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18"/>
          <p:cNvSpPr txBox="1"/>
          <p:nvPr>
            <p:ph idx="4294967295" type="sldNum"/>
          </p:nvPr>
        </p:nvSpPr>
        <p:spPr>
          <a:xfrm>
            <a:off x="11475720" y="6446520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>
              <a:solidFill>
                <a:srgbClr val="6B728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19"/>
          <p:cNvSpPr/>
          <p:nvPr/>
        </p:nvSpPr>
        <p:spPr>
          <a:xfrm>
            <a:off x="502920" y="384048"/>
            <a:ext cx="69494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3A6D"/>
              </a:buClr>
              <a:buSzPts val="2700"/>
              <a:buFont typeface="Play"/>
              <a:buNone/>
            </a:pPr>
            <a:r>
              <a:rPr b="1" lang="en-US" sz="2700">
                <a:solidFill>
                  <a:srgbClr val="1D3A6D"/>
                </a:solidFill>
                <a:latin typeface="Play"/>
                <a:ea typeface="Play"/>
                <a:cs typeface="Play"/>
                <a:sym typeface="Play"/>
              </a:rPr>
              <a:t>Known risks and mitigations</a:t>
            </a:r>
            <a:endParaRPr sz="2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p19"/>
          <p:cNvSpPr/>
          <p:nvPr/>
        </p:nvSpPr>
        <p:spPr>
          <a:xfrm>
            <a:off x="530352" y="786384"/>
            <a:ext cx="8046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150"/>
              <a:buFont typeface="Arial"/>
              <a:buNone/>
            </a:pPr>
            <a:r>
              <a:rPr lang="en-US" sz="1150">
                <a:solidFill>
                  <a:srgbClr val="5B6472"/>
                </a:solidFill>
                <a:latin typeface="Arial"/>
                <a:ea typeface="Arial"/>
                <a:cs typeface="Arial"/>
                <a:sym typeface="Arial"/>
              </a:rPr>
              <a:t>Acknowledge uncertainty; reduce it with process</a:t>
            </a:r>
            <a:endParaRPr sz="1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p19"/>
          <p:cNvSpPr/>
          <p:nvPr/>
        </p:nvSpPr>
        <p:spPr>
          <a:xfrm>
            <a:off x="9674352" y="438912"/>
            <a:ext cx="1920240" cy="329184"/>
          </a:xfrm>
          <a:prstGeom prst="roundRect">
            <a:avLst>
              <a:gd fmla="val 22222" name="adj"/>
            </a:avLst>
          </a:prstGeom>
          <a:solidFill>
            <a:srgbClr val="DCEAFE"/>
          </a:solidFill>
          <a:ln cap="flat" cmpd="sng" w="12700">
            <a:solidFill>
              <a:srgbClr val="DCEA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19"/>
          <p:cNvSpPr/>
          <p:nvPr/>
        </p:nvSpPr>
        <p:spPr>
          <a:xfrm>
            <a:off x="9829800" y="521208"/>
            <a:ext cx="1645920" cy="1188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3A6D"/>
              </a:buClr>
              <a:buSzPts val="850"/>
              <a:buFont typeface="Arial"/>
              <a:buNone/>
            </a:pPr>
            <a:r>
              <a:rPr b="1" lang="en-US" sz="850">
                <a:solidFill>
                  <a:srgbClr val="1D3A6D"/>
                </a:solidFill>
                <a:latin typeface="Arial"/>
                <a:ea typeface="Arial"/>
                <a:cs typeface="Arial"/>
                <a:sym typeface="Arial"/>
              </a:rPr>
              <a:t>APPENDIX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19"/>
          <p:cNvSpPr/>
          <p:nvPr/>
        </p:nvSpPr>
        <p:spPr>
          <a:xfrm>
            <a:off x="914400" y="1143000"/>
            <a:ext cx="10332720" cy="4480560"/>
          </a:xfrm>
          <a:prstGeom prst="roundRect">
            <a:avLst>
              <a:gd fmla="val 1633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19"/>
          <p:cNvSpPr/>
          <p:nvPr/>
        </p:nvSpPr>
        <p:spPr>
          <a:xfrm>
            <a:off x="1234440" y="1417320"/>
            <a:ext cx="34747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3A6D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1D3A6D"/>
                </a:solidFill>
                <a:latin typeface="Arial"/>
                <a:ea typeface="Arial"/>
                <a:cs typeface="Arial"/>
                <a:sym typeface="Arial"/>
              </a:rPr>
              <a:t>Risk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19"/>
          <p:cNvSpPr/>
          <p:nvPr/>
        </p:nvSpPr>
        <p:spPr>
          <a:xfrm>
            <a:off x="5577840" y="1417320"/>
            <a:ext cx="4937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3A6D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1D3A6D"/>
                </a:solidFill>
                <a:latin typeface="Arial"/>
                <a:ea typeface="Arial"/>
                <a:cs typeface="Arial"/>
                <a:sym typeface="Arial"/>
              </a:rPr>
              <a:t>Mitigation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4" name="Google Shape;314;p19"/>
          <p:cNvCxnSpPr/>
          <p:nvPr/>
        </p:nvCxnSpPr>
        <p:spPr>
          <a:xfrm>
            <a:off x="1143000" y="1709928"/>
            <a:ext cx="9875520" cy="0"/>
          </a:xfrm>
          <a:prstGeom prst="straightConnector1">
            <a:avLst/>
          </a:prstGeom>
          <a:noFill/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5" name="Google Shape;315;p19"/>
          <p:cNvSpPr/>
          <p:nvPr/>
        </p:nvSpPr>
        <p:spPr>
          <a:xfrm>
            <a:off x="1234440" y="1874520"/>
            <a:ext cx="3840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350"/>
              <a:buFont typeface="Arial"/>
              <a:buNone/>
            </a:pPr>
            <a:r>
              <a:rPr lang="en-US" sz="135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Unknown current onsite state</a:t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19"/>
          <p:cNvSpPr/>
          <p:nvPr/>
        </p:nvSpPr>
        <p:spPr>
          <a:xfrm>
            <a:off x="5577840" y="1874520"/>
            <a:ext cx="51206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350"/>
              <a:buFont typeface="Arial"/>
              <a:buNone/>
            </a:pPr>
            <a:r>
              <a:rPr lang="en-US" sz="135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Onsite assessment before changes</a:t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7" name="Google Shape;317;p19"/>
          <p:cNvCxnSpPr/>
          <p:nvPr/>
        </p:nvCxnSpPr>
        <p:spPr>
          <a:xfrm>
            <a:off x="1143000" y="2350008"/>
            <a:ext cx="9875520" cy="0"/>
          </a:xfrm>
          <a:prstGeom prst="straightConnector1">
            <a:avLst/>
          </a:prstGeom>
          <a:noFill/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8" name="Google Shape;318;p19"/>
          <p:cNvSpPr/>
          <p:nvPr/>
        </p:nvSpPr>
        <p:spPr>
          <a:xfrm>
            <a:off x="1234440" y="2514600"/>
            <a:ext cx="3840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350"/>
              <a:buFont typeface="Arial"/>
              <a:buNone/>
            </a:pPr>
            <a:r>
              <a:rPr lang="en-US" sz="135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Aging server or OS</a:t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p19"/>
          <p:cNvSpPr/>
          <p:nvPr/>
        </p:nvSpPr>
        <p:spPr>
          <a:xfrm>
            <a:off x="5577840" y="2514600"/>
            <a:ext cx="51206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350"/>
              <a:buFont typeface="Arial"/>
              <a:buNone/>
            </a:pPr>
            <a:r>
              <a:rPr lang="en-US" sz="135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Fresh appliance plus documented install</a:t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20" name="Google Shape;320;p19"/>
          <p:cNvCxnSpPr/>
          <p:nvPr/>
        </p:nvCxnSpPr>
        <p:spPr>
          <a:xfrm>
            <a:off x="1143000" y="2990088"/>
            <a:ext cx="9875520" cy="0"/>
          </a:xfrm>
          <a:prstGeom prst="straightConnector1">
            <a:avLst/>
          </a:prstGeom>
          <a:noFill/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1" name="Google Shape;321;p19"/>
          <p:cNvSpPr/>
          <p:nvPr/>
        </p:nvSpPr>
        <p:spPr>
          <a:xfrm>
            <a:off x="1234440" y="3154680"/>
            <a:ext cx="3840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350"/>
              <a:buFont typeface="Arial"/>
              <a:buNone/>
            </a:pPr>
            <a:r>
              <a:rPr lang="en-US" sz="135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Controller/network mismatch</a:t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19"/>
          <p:cNvSpPr/>
          <p:nvPr/>
        </p:nvSpPr>
        <p:spPr>
          <a:xfrm>
            <a:off x="5577840" y="3154680"/>
            <a:ext cx="51206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350"/>
              <a:buFont typeface="Arial"/>
              <a:buNone/>
            </a:pPr>
            <a:r>
              <a:rPr lang="en-US" sz="135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Bench test + onsite non-destructive validation</a:t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23" name="Google Shape;323;p19"/>
          <p:cNvCxnSpPr/>
          <p:nvPr/>
        </p:nvCxnSpPr>
        <p:spPr>
          <a:xfrm>
            <a:off x="1143000" y="3630168"/>
            <a:ext cx="9875520" cy="0"/>
          </a:xfrm>
          <a:prstGeom prst="straightConnector1">
            <a:avLst/>
          </a:prstGeom>
          <a:noFill/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4" name="Google Shape;324;p19"/>
          <p:cNvSpPr/>
          <p:nvPr/>
        </p:nvSpPr>
        <p:spPr>
          <a:xfrm>
            <a:off x="1234440" y="3794760"/>
            <a:ext cx="3840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350"/>
              <a:buFont typeface="Arial"/>
              <a:buNone/>
            </a:pPr>
            <a:r>
              <a:rPr lang="en-US" sz="135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Database maintenance error</a:t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p19"/>
          <p:cNvSpPr/>
          <p:nvPr/>
        </p:nvSpPr>
        <p:spPr>
          <a:xfrm>
            <a:off x="5577840" y="3794760"/>
            <a:ext cx="51206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350"/>
              <a:buFont typeface="Arial"/>
              <a:buNone/>
            </a:pPr>
            <a:r>
              <a:rPr lang="en-US" sz="135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Single-record editing + backup/audit</a:t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26" name="Google Shape;326;p19"/>
          <p:cNvCxnSpPr/>
          <p:nvPr/>
        </p:nvCxnSpPr>
        <p:spPr>
          <a:xfrm>
            <a:off x="1143000" y="4270248"/>
            <a:ext cx="9875520" cy="0"/>
          </a:xfrm>
          <a:prstGeom prst="straightConnector1">
            <a:avLst/>
          </a:prstGeom>
          <a:noFill/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7" name="Google Shape;327;p19"/>
          <p:cNvSpPr/>
          <p:nvPr/>
        </p:nvSpPr>
        <p:spPr>
          <a:xfrm>
            <a:off x="1234440" y="4434840"/>
            <a:ext cx="3840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350"/>
              <a:buFont typeface="Arial"/>
              <a:buNone/>
            </a:pPr>
            <a:r>
              <a:rPr lang="en-US" sz="135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Future loss of knowledge</a:t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p19"/>
          <p:cNvSpPr/>
          <p:nvPr/>
        </p:nvSpPr>
        <p:spPr>
          <a:xfrm>
            <a:off x="5577840" y="4434840"/>
            <a:ext cx="51206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350"/>
              <a:buFont typeface="Arial"/>
              <a:buNone/>
            </a:pPr>
            <a:r>
              <a:rPr lang="en-US" sz="135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Repository, docs, support handoff</a:t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19"/>
          <p:cNvSpPr/>
          <p:nvPr/>
        </p:nvSpPr>
        <p:spPr>
          <a:xfrm>
            <a:off x="502920" y="6473952"/>
            <a:ext cx="82296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750"/>
              <a:buFont typeface="Arial"/>
              <a:buNone/>
            </a:pPr>
            <a:r>
              <a:rPr lang="en-US" sz="750">
                <a:solidFill>
                  <a:srgbClr val="5B6472"/>
                </a:solidFill>
                <a:latin typeface="Arial"/>
                <a:ea typeface="Arial"/>
                <a:cs typeface="Arial"/>
                <a:sym typeface="Arial"/>
              </a:rPr>
              <a:t>Technical appendix</a:t>
            </a:r>
            <a:endParaRPr sz="7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p19"/>
          <p:cNvSpPr txBox="1"/>
          <p:nvPr>
            <p:ph idx="4294967295" type="sldNum"/>
          </p:nvPr>
        </p:nvSpPr>
        <p:spPr>
          <a:xfrm>
            <a:off x="11475720" y="6446520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>
              <a:solidFill>
                <a:srgbClr val="6B728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mnt/data/old_deck_imgs/p9-09.png" id="336" name="Google Shape;336;p20"/>
          <p:cNvPicPr preferRelativeResize="0"/>
          <p:nvPr/>
        </p:nvPicPr>
        <p:blipFill rotWithShape="1">
          <a:blip r:embed="rId3">
            <a:alphaModFix/>
          </a:blip>
          <a:srcRect b="2665" l="0" r="0" t="2665"/>
          <a:stretch/>
        </p:blipFill>
        <p:spPr>
          <a:xfrm>
            <a:off x="0" y="164592"/>
            <a:ext cx="12191695" cy="6492240"/>
          </a:xfrm>
          <a:prstGeom prst="rect">
            <a:avLst/>
          </a:prstGeom>
          <a:noFill/>
          <a:ln>
            <a:noFill/>
          </a:ln>
        </p:spPr>
      </p:pic>
      <p:sp>
        <p:nvSpPr>
          <p:cNvPr id="337" name="Google Shape;337;p20"/>
          <p:cNvSpPr/>
          <p:nvPr/>
        </p:nvSpPr>
        <p:spPr>
          <a:xfrm>
            <a:off x="0" y="164592"/>
            <a:ext cx="12191695" cy="6492240"/>
          </a:xfrm>
          <a:prstGeom prst="rect">
            <a:avLst/>
          </a:prstGeom>
          <a:solidFill>
            <a:srgbClr val="000000">
              <a:alpha val="52156"/>
            </a:srgbClr>
          </a:solidFill>
          <a:ln cap="flat" cmpd="sng" w="12700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20"/>
          <p:cNvSpPr/>
          <p:nvPr/>
        </p:nvSpPr>
        <p:spPr>
          <a:xfrm>
            <a:off x="731520" y="1005840"/>
            <a:ext cx="612648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Arial"/>
              <a:buNone/>
            </a:pPr>
            <a:r>
              <a:rPr b="1" lang="en-US" sz="3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 maintainable future</a:t>
            </a:r>
            <a:endParaRPr sz="3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Arial"/>
              <a:buNone/>
            </a:pPr>
            <a:r>
              <a:rPr b="1" lang="en-US" sz="3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for a memorial wall</a:t>
            </a:r>
            <a:endParaRPr sz="3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20"/>
          <p:cNvSpPr/>
          <p:nvPr/>
        </p:nvSpPr>
        <p:spPr>
          <a:xfrm>
            <a:off x="777240" y="4983480"/>
            <a:ext cx="7223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DE68A"/>
              </a:buClr>
              <a:buSzPts val="1800"/>
              <a:buFont typeface="Arial"/>
              <a:buNone/>
            </a:pPr>
            <a:r>
              <a:rPr lang="en-US" sz="1800">
                <a:solidFill>
                  <a:srgbClr val="FDE68A"/>
                </a:solidFill>
                <a:latin typeface="Arial"/>
                <a:ea typeface="Arial"/>
                <a:cs typeface="Arial"/>
                <a:sym typeface="Arial"/>
              </a:rPr>
              <a:t>Next step: name the working group and schedule the onsite assessment.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20"/>
          <p:cNvSpPr/>
          <p:nvPr/>
        </p:nvSpPr>
        <p:spPr>
          <a:xfrm>
            <a:off x="777240" y="5532120"/>
            <a:ext cx="21031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1" lang="en-US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Thank you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20"/>
          <p:cNvSpPr txBox="1"/>
          <p:nvPr>
            <p:ph idx="4294967295" type="sldNum"/>
          </p:nvPr>
        </p:nvSpPr>
        <p:spPr>
          <a:xfrm>
            <a:off x="11475720" y="6446520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>
              <a:solidFill>
                <a:srgbClr val="6B728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2026-06-26T18:21:27Z</dcterms:created>
  <dc:creator>Allan Schwartz / OpenAI</dc:creator>
</cp:coreProperties>
</file>